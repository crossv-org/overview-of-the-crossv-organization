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  <p:sldId id="264" r:id="rId10"/>
    <p:sldId id="266" r:id="rId11"/>
    <p:sldId id="267" r:id="rId12"/>
    <p:sldId id="268" r:id="rId13"/>
    <p:sldId id="269" r:id="rId14"/>
    <p:sldId id="265" r:id="rId15"/>
    <p:sldId id="270" r:id="rId16"/>
    <p:sldId id="271" r:id="rId17"/>
    <p:sldId id="274" r:id="rId18"/>
    <p:sldId id="275" r:id="rId19"/>
    <p:sldId id="276" r:id="rId20"/>
    <p:sldId id="277" r:id="rId21"/>
    <p:sldId id="280" r:id="rId22"/>
    <p:sldId id="281" r:id="rId23"/>
    <p:sldId id="284" r:id="rId24"/>
    <p:sldId id="290" r:id="rId25"/>
    <p:sldId id="283" r:id="rId26"/>
    <p:sldId id="285" r:id="rId27"/>
    <p:sldId id="286" r:id="rId28"/>
    <p:sldId id="287" r:id="rId29"/>
    <p:sldId id="288" r:id="rId30"/>
    <p:sldId id="289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279" r:id="rId4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09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256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60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588" y="2438400"/>
            <a:ext cx="76200" cy="76200"/>
          </a:xfrm>
          <a:prstGeom prst="ellipse">
            <a:avLst/>
          </a:prstGeom>
          <a:solidFill>
            <a:srgbClr val="0A84FF"/>
          </a:solidFill>
          <a:ln/>
          <a:effectLst>
            <a:outerShdw blurRad="152400" dist="50800" dir="16200000" algn="bl" rotWithShape="0">
              <a:srgbClr val="0A84FF">
                <a:alpha val="10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786188" y="2352675"/>
            <a:ext cx="5592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kern="0" spc="525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OPEN, AI-NATIVE RISC-V CORE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287399" y="2343150"/>
            <a:ext cx="55234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kern="0" spc="525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一款开放的、原生 AI 的 RISC-V 内核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89995" y="3219450"/>
            <a:ext cx="1150801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0" kern="0" spc="-6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lang="en-US" sz="15000" kern="0" spc="-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389995" y="5486400"/>
            <a:ext cx="1150801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kern="0" spc="99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 界 · Cross the Boundary 越界·跨越边界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389995" y="7086600"/>
            <a:ext cx="115080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-21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silicon for AI to learn from, design from, build on. 一块供人工智能学习、设计、构建的硅基芯片。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8810625"/>
            <a:ext cx="2660706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 · APR 2026 CROSSV · 2026 年 4 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64129" y="8810625"/>
            <a:ext cx="13716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21100" y="8810625"/>
            <a:ext cx="7239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0.1</a:t>
            </a:r>
            <a:endParaRPr 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839CAB7-D876-C60E-938F-D5E6D85DC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95" y="36851"/>
            <a:ext cx="18222487" cy="10250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598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交叉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81176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005346" y="938213"/>
            <a:ext cx="41853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MOMENT · 01 关键时刻 · 01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4716125" cy="6590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singularity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6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not a moment.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600" kern="0" spc="-28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 fork.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288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奇点并非一个瞬间。它是一个分叉</a:t>
            </a:r>
            <a:r>
              <a:rPr lang="en-US" sz="48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219200" y="9124504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APRIL 2026 · WE ARE HERE — 2026 年 4 月 · 我们在此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19200" y="10248454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161990" y="10248454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24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ABAB436-C70C-1B7A-2C2A-5F84333AA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834730"/>
            <a:ext cx="43434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598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交叉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81176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474107" y="938213"/>
            <a:ext cx="16708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VISION 愿景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4716125" cy="6590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CPU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6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won't be designed </a:t>
            </a:r>
            <a:r>
              <a:rPr lang="en-US" sz="9600" kern="0" spc="-28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humans 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4800" kern="0" spc="-288" dirty="0">
              <a:solidFill>
                <a:srgbClr val="F5F5F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endParaRPr lang="en-US" sz="4800" kern="0" spc="-288" dirty="0">
              <a:solidFill>
                <a:srgbClr val="F5F5F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288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下一代</a:t>
            </a:r>
            <a:r>
              <a:rPr lang="en-US" sz="4800" kern="0" spc="-28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CPU 将不再仅由人类设计。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219200" y="9124504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CROSSV · APRIL 2026 — CROSSV · 2026 年 4 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19200" y="10248454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161990" y="10248454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24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A3B7D4-0480-8B7B-416B-BBBDF0DA4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800913"/>
            <a:ext cx="74676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050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30110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351198" y="928688"/>
            <a:ext cx="21080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MANIFESTO 宣言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905000" y="1704082"/>
            <a:ext cx="1491234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5000" dirty="0">
                <a:solidFill>
                  <a:srgbClr val="0A8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1905000" y="3113782"/>
            <a:ext cx="14716125" cy="422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900" kern="0" spc="-13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AI will design silicon, it needs </a:t>
            </a:r>
            <a:r>
              <a:rPr lang="en-US" sz="6900" kern="0" spc="-138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silicon to learn from.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6900" kern="0" spc="-138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如果人工智能将设计芯片，它需要一个可供学习的芯片</a:t>
            </a:r>
            <a:r>
              <a:rPr lang="en-US" sz="6900" kern="0" spc="-138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900" dirty="0"/>
          </a:p>
        </p:txBody>
      </p:sp>
      <p:sp>
        <p:nvSpPr>
          <p:cNvPr id="8" name="Text 5"/>
          <p:cNvSpPr/>
          <p:nvPr/>
        </p:nvSpPr>
        <p:spPr>
          <a:xfrm>
            <a:off x="1905000" y="7982843"/>
            <a:ext cx="149123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7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CROSSV · OPEN CORE MANIFESTO —— CROSSV · 开源核心宣言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050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4761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806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克罗斯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188643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676983" y="938213"/>
            <a:ext cx="24680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01 第一章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63250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FORK 01 · 分岔点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19200" y="3152775"/>
            <a:ext cx="16325088" cy="492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roads </a:t>
            </a:r>
            <a:r>
              <a:rPr lang="en-US" sz="13500" kern="0" spc="-405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 here. 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5200" kern="0" spc="-405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三条道路在此分岔</a:t>
            </a:r>
            <a:r>
              <a:rPr lang="en-US" sz="52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r>
              <a:rPr lang="zh-CN" altLang="en-US" sz="52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zh-CN" sz="52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r>
              <a:rPr lang="zh-CN" altLang="en-US" sz="52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、芯片设计、开源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219200" y="8496300"/>
            <a:ext cx="163250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6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奇点之前 · 三岔路口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19200" y="9486900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161990" y="9486900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806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克罗斯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188643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725376" y="938213"/>
            <a:ext cx="34437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FORK 01 · 分叉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632508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roads, </a:t>
            </a:r>
            <a:r>
              <a:rPr lang="en-US" sz="6300" kern="0" spc="-126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vertex. </a:t>
            </a: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三条道路，一个顶点。</a:t>
            </a:r>
            <a:endParaRPr lang="en-US" sz="6300" dirty="0"/>
          </a:p>
        </p:txBody>
      </p:sp>
      <p:sp>
        <p:nvSpPr>
          <p:cNvPr id="8" name="Text 5"/>
          <p:cNvSpPr/>
          <p:nvPr/>
        </p:nvSpPr>
        <p:spPr>
          <a:xfrm>
            <a:off x="1219200" y="3486150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多数项目只选一条路。CrossV 站在三条路的交点 —— 这是我们的坐标。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219200" y="4619625"/>
            <a:ext cx="5029200" cy="5429250"/>
          </a:xfrm>
          <a:prstGeom prst="roundRect">
            <a:avLst>
              <a:gd name="adj" fmla="val 454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647825" y="5124450"/>
            <a:ext cx="42971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SILICON 01 · 硅晶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47825" y="5553075"/>
            <a:ext cx="4297109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Silicon that ships. 可量产的硅芯片。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647825" y="6924675"/>
            <a:ext cx="4297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可量产的芯片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47825" y="8896350"/>
            <a:ext cx="42971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对标 ARM Cortex-M7 的首颗 core。能跑 FPGA，能流到 28 nm，能真正被用起来。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29400" y="4619625"/>
            <a:ext cx="5029200" cy="5429250"/>
          </a:xfrm>
          <a:prstGeom prst="roundRect">
            <a:avLst>
              <a:gd name="adj" fmla="val 454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7058025" y="5124450"/>
            <a:ext cx="42971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AUTONOMY 02 · 自主性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58025" y="5553075"/>
            <a:ext cx="4297109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by AI. 由人工智能设计。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7058025" y="6924675"/>
            <a:ext cx="4297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全自动设计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058025" y="8896350"/>
            <a:ext cx="42971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设计、验证、固件、手册，全流程 AI 驱动。人类只定目标，其他交给模型。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2039600" y="4619625"/>
            <a:ext cx="5029200" cy="5429250"/>
          </a:xfrm>
          <a:prstGeom prst="roundRect">
            <a:avLst>
              <a:gd name="adj" fmla="val 454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2468225" y="5124450"/>
            <a:ext cx="429710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OPEN STACK 03 · 开放栈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468225" y="5924550"/>
            <a:ext cx="4297109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Radically open. 彻底开放。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12468225" y="7296150"/>
            <a:ext cx="4297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RISC-V 全栈透明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2468225" y="7772400"/>
            <a:ext cx="4297109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 · RTL · testbench · bitstream · SDK · 编译器 · 文档 —— 一切 Apache 2.0。 指令集架构 · 寄存器传输级 · 测试平台 · 比特流 · 软件开发工具包 · 编译器 · 文档 —— 一切基于 Apache 2.0 协议。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19200" y="105060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161990" y="105060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598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交叉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81176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316819" y="938213"/>
            <a:ext cx="28345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 问题所在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6325088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Silicon is still stuck in 1998.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kern="0" spc="-126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硅芯片技术仍停留在</a:t>
            </a:r>
            <a:r>
              <a:rPr lang="en-US" sz="40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1998 年。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219200" y="3638550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每 18 个月性能翻倍。芯片设计流程几乎没变。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219200" y="4619625"/>
            <a:ext cx="7620000" cy="4438650"/>
          </a:xfrm>
          <a:prstGeom prst="roundRect">
            <a:avLst>
              <a:gd name="adj" fmla="val 515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762125" y="5162550"/>
            <a:ext cx="673017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今日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62125" y="5600700"/>
            <a:ext cx="6730174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kern="0" spc="-3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Closed, slow, expensive. </a:t>
            </a:r>
          </a:p>
          <a:p>
            <a:pPr marL="0" indent="0" algn="l">
              <a:buNone/>
            </a:pPr>
            <a:r>
              <a:rPr lang="en-US" sz="3600" kern="0" spc="-36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封闭、缓慢、昂贵</a:t>
            </a:r>
            <a:r>
              <a:rPr lang="en-US" sz="3600" kern="0" spc="-3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857375" y="7143750"/>
            <a:ext cx="65151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数百工程师 · 18–36 个月 tape-out 周期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RTL、验证、固件、文档彼此脱节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 被 EDA 厂与 arch license 绑死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每次迭代耗费千万美元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448800" y="4619625"/>
            <a:ext cx="7620000" cy="4438650"/>
          </a:xfrm>
          <a:prstGeom prst="roundRect">
            <a:avLst>
              <a:gd name="adj" fmla="val 515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991725" y="5162550"/>
            <a:ext cx="673017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TOMORROW · CROSSV 明日·CROSSV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91725" y="5600700"/>
            <a:ext cx="6730174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kern="0" spc="-3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autonomous, cheap. </a:t>
            </a:r>
          </a:p>
          <a:p>
            <a:pPr marL="0" indent="0" algn="l">
              <a:buNone/>
            </a:pPr>
            <a:r>
              <a:rPr lang="en-US" sz="3600" kern="0" spc="-36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开放、自主、廉价</a:t>
            </a:r>
            <a:r>
              <a:rPr lang="en-US" sz="3600" kern="0" spc="-3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0086975" y="7143750"/>
            <a:ext cx="65151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一个人 + 一组 agent 在 FPGA 闭环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 / 验证 / 固件 / 手册 单一 pipeline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 无授权费 · RTL Apache 2.0</a:t>
            </a:r>
            <a:endParaRPr lang="en-US" sz="1500" dirty="0"/>
          </a:p>
          <a:p>
            <a:pPr marL="133350" indent="-133350" algn="l">
              <a:lnSpc>
                <a:spcPct val="18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迭代按天计，不再按季度计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19200" y="95154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161990" y="95154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5328404" y="928688"/>
            <a:ext cx="18165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背景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2714625"/>
            <a:ext cx="163250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now. 为何是现在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1219200" y="3743325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三条独立的曲线在 2026 年第一次对齐 —— 这是 CrossV 存在的理由。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219200" y="4800600"/>
            <a:ext cx="36766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19200" y="5114925"/>
            <a:ext cx="37869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21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2880" kern="0" spc="-216" baseline="3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1219200" y="6181725"/>
            <a:ext cx="3786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TRAINING FLOPS · 2026 训练算力 ·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19200" y="6638925"/>
            <a:ext cx="3786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大模型已能稳定输出正确可综合的 RTL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76850" y="4800600"/>
            <a:ext cx="36766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276850" y="7096125"/>
            <a:ext cx="3786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RISC-V PROFILES RISC-V 配置文件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76850" y="7381875"/>
            <a:ext cx="3786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RVA23 / RVM23 冻结 · 指令集成熟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334500" y="4800600"/>
            <a:ext cx="36766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9334500" y="6181725"/>
            <a:ext cx="3786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FPGA + TOOLCHAIN FPGA + 工具链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34500" y="6467475"/>
            <a:ext cx="3786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开源综合 + 低成本板卡普及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3392150" y="4800600"/>
            <a:ext cx="36766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3392150" y="5114925"/>
            <a:ext cx="37869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21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13392150" y="6181725"/>
            <a:ext cx="37869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APACHE-2.0 AI-NATIVE CORES APACHE-2.0 人工智能原生核心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3392150" y="6791325"/>
            <a:ext cx="3786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此刻没有人把三者合起来做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24</a:t>
            </a:r>
            <a:endParaRPr lang="en-US" sz="12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C91AEBA8-564F-6166-4626-C3BBC3614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5114925"/>
            <a:ext cx="1625600" cy="8636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64B554A-BAA3-EA55-85CC-BD73C96D7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150" y="5133975"/>
            <a:ext cx="3238500" cy="16002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FFB2AC6-8F7C-E447-F32B-681D6BC9E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325" y="5051373"/>
            <a:ext cx="1841500" cy="8763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032287F-EFEB-B27B-A4D7-2B6FBA7D2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2150" y="5140325"/>
            <a:ext cx="9017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676983" y="928688"/>
            <a:ext cx="24680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 第二章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2305050"/>
            <a:ext cx="163250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PIPELINE 02 · 流程管道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19200" y="3800475"/>
            <a:ext cx="16325088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to </a:t>
            </a:r>
            <a:r>
              <a:rPr lang="en-US" sz="13500" kern="0" spc="-405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silicon. 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从提示到硅片</a:t>
            </a:r>
            <a:endParaRPr lang="en-US" sz="13500" dirty="0"/>
          </a:p>
        </p:txBody>
      </p:sp>
      <p:sp>
        <p:nvSpPr>
          <p:cNvPr id="8" name="Text 5"/>
          <p:cNvSpPr/>
          <p:nvPr/>
        </p:nvSpPr>
        <p:spPr>
          <a:xfrm>
            <a:off x="1219200" y="7515225"/>
            <a:ext cx="163250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6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四段式 AI 流水线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730907" y="928688"/>
            <a:ext cx="44680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 / 04 第一阶段 / 共四阶段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525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 · DESIGN 第一阶段 · 设计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19200" y="2609850"/>
            <a:ext cx="1632508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400" kern="0" spc="-252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Design. 设计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219200" y="3851821"/>
            <a:ext cx="163250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24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生成微架构 · 从 prompt 到 RTL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" y="496624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19200" y="516627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输入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19200" y="5432971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 profile · PPA budget · 目标应用 domain 指令集架构配置 · 功耗性能面积预算 · 目标应用领域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19200" y="648072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219200" y="668074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 智能体系统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19200" y="6947446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 planner → RTL writer → Lint &amp; synth checker，循环迭代 架构规划 → 寄存器传输级设计 → 语法检查与综合验证，循环迭代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19200" y="799519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219200" y="819522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输出结果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19200" y="8461921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Verilog RTL + micro-architecture spec + 可综合网表 Verilog RTL + 微架构规范 + 可综合网表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219200" y="950967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19200" y="970969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HUMAN LOOP 人工介入环节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19200" y="9976396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只在 spec 阶段审阅 · RTL 之后全自动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525000" y="4966246"/>
            <a:ext cx="3759994" cy="828675"/>
          </a:xfrm>
          <a:prstGeom prst="roundRect">
            <a:avLst>
              <a:gd name="adj" fmla="val 50000"/>
            </a:avLst>
          </a:prstGeom>
          <a:ln w="9525">
            <a:solidFill>
              <a:srgbClr val="0A8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744075" y="5109121"/>
            <a:ext cx="343464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· GPT · QWEN · LOCAL LLM Claude · GPT · Qwen · 本地 LLM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9525000" y="5909221"/>
            <a:ext cx="3438525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744075" y="6052096"/>
            <a:ext cx="31035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CHIPYARD · CHISEL · AMARANTH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9525000" y="6499771"/>
            <a:ext cx="3117056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744075" y="6642646"/>
            <a:ext cx="27724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YOSYS · VERILATOR · SLANG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9525000" y="7090321"/>
            <a:ext cx="2366963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744075" y="7233196"/>
            <a:ext cx="20050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SURELOG · OPENFPGA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525000" y="7680871"/>
            <a:ext cx="4367213" cy="4857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744075" y="7823746"/>
            <a:ext cx="40600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 AGENT RUNTIME CROSSV 代理运行时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1219200" y="10747921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6161990" y="10747921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288119" y="928688"/>
            <a:ext cx="38941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 / 04 阶段 02 / 04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525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 · VERIFY 阶段 02 · 验证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19200" y="2609850"/>
            <a:ext cx="1632508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400" kern="0" spc="-252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Verify. 验证。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219200" y="3851821"/>
            <a:ext cx="163250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24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FPGA 自动验证 · 从仿真到真实硅片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" y="496624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19200" y="516627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TESTBENCH 测试平台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19200" y="5432971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 UVM-lite + 定向用例 · 覆盖率驱动回归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19200" y="601399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219200" y="621402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FORMAL 正式验证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19200" y="6480721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SymbiYosys + RISC-V Formal ISA spec 比对 SymbiYosys + RISC-V 形式化指令集架构规范比对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19200" y="752847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219200" y="772849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FPGA LOOP FPGA 循环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19200" y="7995196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Xilinx Kintex / Lattice ECP5 夜间自动回归 · 失败自动 bisect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219200" y="857622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19200" y="877624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 指标数据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19200" y="9042946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IPC · 覆盖率 · 面积 · 功耗 · 每次 commit 都留档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525000" y="4966246"/>
            <a:ext cx="3409950" cy="828675"/>
          </a:xfrm>
          <a:prstGeom prst="roundRect">
            <a:avLst>
              <a:gd name="adj" fmla="val 50000"/>
            </a:avLst>
          </a:prstGeom>
          <a:ln w="9525">
            <a:solidFill>
              <a:srgbClr val="0A8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744075" y="5109121"/>
            <a:ext cx="307409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RISC-V FORMAL / RISCOF RISC-V 形式化验证 / RISCOF 框架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9525000" y="5909221"/>
            <a:ext cx="4867275" cy="8286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744075" y="6052096"/>
            <a:ext cx="457514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SYMBIYOSYS · JASPER-LITE SYMBIYOSYS 形式验证工具 · JASPER-LITE 验证平台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9525000" y="6852196"/>
            <a:ext cx="6203156" cy="4857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744075" y="6995071"/>
            <a:ext cx="59511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VERILATOR · COCOTB VERILATOR 仿真器 · COCOTB 协同仿真框架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9525000" y="7452271"/>
            <a:ext cx="4595813" cy="8286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744075" y="7595146"/>
            <a:ext cx="429553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XILINX VIVADO · OPENXC7 XILINX VIVADO 开发套件 · OPENXC7 开源工具链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525000" y="8395246"/>
            <a:ext cx="2045494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744075" y="8538121"/>
            <a:ext cx="168354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LATTICE NEXTPNR</a:t>
            </a:r>
            <a:endParaRPr lang="en-US" sz="1125" dirty="0"/>
          </a:p>
        </p:txBody>
      </p:sp>
      <p:sp>
        <p:nvSpPr>
          <p:cNvPr id="31" name="Shape 28"/>
          <p:cNvSpPr/>
          <p:nvPr/>
        </p:nvSpPr>
        <p:spPr>
          <a:xfrm>
            <a:off x="9525000" y="8985796"/>
            <a:ext cx="4045744" cy="4857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9744075" y="9128671"/>
            <a:ext cx="37289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 BENCH-FARM CROSSV 基准测试场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1219200" y="9928771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6161990" y="9928771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288119" y="928688"/>
            <a:ext cx="38941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 / 04 阶段 03 / 04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525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 · SHIP 阶段 03 · 交付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19200" y="2609850"/>
            <a:ext cx="1632508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400" kern="0" spc="-252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Ship. 交付。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219200" y="3851821"/>
            <a:ext cx="163250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24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软件栈 · 从 bring-up 到应用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" y="496624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19200" y="516627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TOOLCHAIN 工具链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19200" y="5432971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GCC / LLVM tuple · binutils · newlib · picolibc GCC / LLVM 工具链 · binutils · newlib · picolibc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19200" y="648072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219200" y="668074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 运行时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19200" y="6947446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HAL · CMSIS-equivalent · FreeRTOS / Zephyr port 硬件抽象层 · 类 CMSIS 接口 · FreeRTOS/Zephyr 移植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19200" y="799519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219200" y="819522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EXAMPLES 示例程序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19200" y="8461921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Blinky · UART echo · DSP FIR · 小型 TinyML 推理 LED 闪烁 · UART 回显 · DSP 有限冲激响应滤波器 · 微型 TinyML 推理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219200" y="9509671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19200" y="9709696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DEBUG 调试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19200" y="9976396"/>
            <a:ext cx="77701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OpenOCD · JTAG dongle 配置 · GDB script · VSCode 模板 OpenOCD · JTAG 调试器配置 · GDB 脚本 · VSCode 模板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525000" y="4966246"/>
            <a:ext cx="2259806" cy="476250"/>
          </a:xfrm>
          <a:prstGeom prst="roundRect">
            <a:avLst>
              <a:gd name="adj" fmla="val 50000"/>
            </a:avLst>
          </a:prstGeom>
          <a:ln w="9525">
            <a:solidFill>
              <a:srgbClr val="0A8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744075" y="5109121"/>
            <a:ext cx="1897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LLVM · GCC · RUST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9525000" y="5556796"/>
            <a:ext cx="2259806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744075" y="5699671"/>
            <a:ext cx="1897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ZEPHYR · FREERTOS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9525000" y="6147346"/>
            <a:ext cx="2366963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744075" y="6290221"/>
            <a:ext cx="20050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OPENOCD · PROBE-RS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9525000" y="6737896"/>
            <a:ext cx="2474119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744075" y="6880771"/>
            <a:ext cx="21121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PLATFORMIO · RENODE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525000" y="7328446"/>
            <a:ext cx="3117056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744075" y="7471321"/>
            <a:ext cx="27724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TFLITE-MICRO · TINYENGINE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1219200" y="11214646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6161990" y="11214646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288119" y="928688"/>
            <a:ext cx="38941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 / 04 阶段 04 / 04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525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 · DOCUMENT 阶段 04 · 文档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19200" y="2609850"/>
            <a:ext cx="1632508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400" kern="0" spc="-252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Document. 文档。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219200" y="3851821"/>
            <a:ext cx="163250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24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说明书自书 · 与代码同源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" y="496624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19200" y="516627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AUTO-DOC 自动文档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19200" y="5432971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RTL + 寄存器表 + testbench 自动生成数据手册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19200" y="601399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219200" y="621402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FORMATS 格式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19200" y="6480721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Markdown 源 · 输出 HTML · PDF · IP-XACT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19200" y="706174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219200" y="726177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LIVING SPEC 动态规范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19200" y="7528471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 commit 自动 rebuild · 与 RTL 永不脱钩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219200" y="8109496"/>
            <a:ext cx="7543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19200" y="8309521"/>
            <a:ext cx="7770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ASSISTANT 助手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19200" y="8576221"/>
            <a:ext cx="7770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内嵌 AI QA · 用户可直接问芯片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525000" y="4966246"/>
            <a:ext cx="3617119" cy="485775"/>
          </a:xfrm>
          <a:prstGeom prst="roundRect">
            <a:avLst>
              <a:gd name="adj" fmla="val 50000"/>
            </a:avLst>
          </a:prstGeom>
          <a:ln w="9525">
            <a:solidFill>
              <a:srgbClr val="0A8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744075" y="5109121"/>
            <a:ext cx="32874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 DOCGEN CROSSV 文档生成器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9525000" y="5566321"/>
            <a:ext cx="2259806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744075" y="5709196"/>
            <a:ext cx="1897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MKDOCS · ASCIIDOC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9525000" y="6156871"/>
            <a:ext cx="2474119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744075" y="6299746"/>
            <a:ext cx="21121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IP-XACT · SYSTEMRDL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9525000" y="6747421"/>
            <a:ext cx="1938337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744075" y="6890296"/>
            <a:ext cx="15763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TYPST · PANDOC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525000" y="7337971"/>
            <a:ext cx="3009900" cy="8286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744075" y="7480846"/>
            <a:ext cx="266204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69" dirty="0">
                <a:solidFill>
                  <a:srgbClr val="A1A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· EMBEDDED ASSISTANT 检索增强生成 · 嵌入式助手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1219200" y="9347746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6161990" y="9347746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598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交叉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81176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928104" y="938213"/>
            <a:ext cx="42649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PIPELINE 02 · 流水线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2385120"/>
            <a:ext cx="163250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→ Silicon. 从提示到硅片。</a:t>
            </a:r>
            <a:endParaRPr lang="en-US" sz="6300" dirty="0"/>
          </a:p>
        </p:txBody>
      </p:sp>
      <p:sp>
        <p:nvSpPr>
          <p:cNvPr id="8" name="Text 5"/>
          <p:cNvSpPr/>
          <p:nvPr/>
        </p:nvSpPr>
        <p:spPr>
          <a:xfrm>
            <a:off x="1219200" y="3413820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四段式 AI 流水线 · 每一步的产物都完全开源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371600" y="4547295"/>
            <a:ext cx="266700" cy="266700"/>
          </a:xfrm>
          <a:prstGeom prst="ellipse">
            <a:avLst/>
          </a:prstGeom>
          <a:solidFill>
            <a:srgbClr val="000000"/>
          </a:solidFill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71600" y="5271195"/>
            <a:ext cx="35907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 第一阶段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5633145"/>
            <a:ext cx="35907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设计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371600" y="6242745"/>
            <a:ext cx="3590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生成微架构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6738045"/>
            <a:ext cx="359073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ISA + budget 生成 RTL。输出 Verilog 与 spec。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391150" y="4547295"/>
            <a:ext cx="266700" cy="266700"/>
          </a:xfrm>
          <a:prstGeom prst="ellipse">
            <a:avLst/>
          </a:prstGeom>
          <a:solidFill>
            <a:srgbClr val="000000"/>
          </a:solidFill>
          <a:ln w="28575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391150" y="5271195"/>
            <a:ext cx="35907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 第二阶段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1150" y="5633145"/>
            <a:ext cx="35907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验证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391150" y="6242745"/>
            <a:ext cx="3590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FPGA 自动验证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91150" y="6738045"/>
            <a:ext cx="3590735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testbench, formal, coverage。FPGA 回归闭环。 生成测试平台、形式验证、覆盖率。FPGA 回归测试闭环。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410700" y="4547295"/>
            <a:ext cx="266700" cy="266700"/>
          </a:xfrm>
          <a:prstGeom prst="ellipse">
            <a:avLst/>
          </a:prstGeom>
          <a:solidFill>
            <a:srgbClr val="000000"/>
          </a:solidFill>
          <a:ln w="28575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410700" y="5271195"/>
            <a:ext cx="35907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 阶段 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0700" y="5633145"/>
            <a:ext cx="35907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发布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410700" y="6242745"/>
            <a:ext cx="3590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SDK 与固件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410700" y="6738045"/>
            <a:ext cx="3590735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GCC / LLVM tuple · HAL · 示例工程 · OpenOCD。 GCC / LLVM 工具链 · 硬件抽象层 · 示例项目 · OpenOCD。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3430250" y="4547295"/>
            <a:ext cx="266700" cy="266700"/>
          </a:xfrm>
          <a:prstGeom prst="ellipse">
            <a:avLst/>
          </a:prstGeom>
          <a:solidFill>
            <a:srgbClr val="000000"/>
          </a:solidFill>
          <a:ln w="28575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3430250" y="5271195"/>
            <a:ext cx="35907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 阶段 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430250" y="5633145"/>
            <a:ext cx="35907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文档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13430250" y="6242745"/>
            <a:ext cx="3590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说明书自书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430250" y="6738045"/>
            <a:ext cx="359073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数据手册 · 用户指南 · 白皮书。与代码同 commit。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23925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33450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14400"/>
            <a:ext cx="598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交叉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81176" y="933450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11475" y="947737"/>
            <a:ext cx="15335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657350"/>
            <a:ext cx="163250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FIRST CORE 03 · 首个核心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19200" y="2781301"/>
            <a:ext cx="16325088" cy="492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vertex </a:t>
            </a:r>
            <a:r>
              <a:rPr lang="en-US" sz="13500" kern="0" spc="-405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start from.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0" kern="0" spc="-405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一个全新的开始</a:t>
            </a:r>
            <a:r>
              <a:rPr lang="en-US" sz="13500" kern="0" spc="-40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13500" kern="0" spc="-405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这是一个开源项目</a:t>
            </a:r>
            <a:endParaRPr lang="en-US" sz="13500" dirty="0"/>
          </a:p>
        </p:txBody>
      </p:sp>
      <p:sp>
        <p:nvSpPr>
          <p:cNvPr id="9" name="Text 6"/>
          <p:cNvSpPr/>
          <p:nvPr/>
        </p:nvSpPr>
        <p:spPr>
          <a:xfrm>
            <a:off x="1219200" y="8496300"/>
            <a:ext cx="163250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6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先跑通 · 再加速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19200" y="9486900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161990" y="9486900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409700"/>
            <a:ext cx="7467600" cy="7467600"/>
          </a:xfrm>
          <a:prstGeom prst="roundRect">
            <a:avLst>
              <a:gd name="adj" fmla="val 4082"/>
            </a:avLst>
          </a:prstGeom>
          <a:solidFill>
            <a:srgbClr val="1A1A24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1143000" dist="50800" dir="16200000" algn="bl" rotWithShape="0">
              <a:srgbClr val="0A84FF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3248025"/>
            <a:ext cx="209550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77873" y="5724525"/>
            <a:ext cx="415025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-7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Vertex M7 顶点 M7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877873" y="6477000"/>
            <a:ext cx="415025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36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CV-01 · FIRST SILICON CV-01 · 首颗芯片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01200" y="1162050"/>
            <a:ext cx="769162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FIRST CORE 03 · 首款核心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01200" y="2000250"/>
            <a:ext cx="7691628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000" kern="0" spc="-27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</a:t>
            </a:r>
            <a:r>
              <a:rPr lang="en-US" sz="9000" kern="0" spc="-270" dirty="0">
                <a:solidFill>
                  <a:srgbClr val="64D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Vertex. </a:t>
            </a:r>
            <a:r>
              <a:rPr lang="en-US" sz="9000" kern="0" spc="-27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遇见 Vertex。</a:t>
            </a:r>
            <a:endParaRPr lang="en-US" sz="9000" dirty="0"/>
          </a:p>
        </p:txBody>
      </p:sp>
      <p:sp>
        <p:nvSpPr>
          <p:cNvPr id="8" name="Text 5"/>
          <p:cNvSpPr/>
          <p:nvPr/>
        </p:nvSpPr>
        <p:spPr>
          <a:xfrm>
            <a:off x="9601200" y="5486400"/>
            <a:ext cx="76916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48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 · 家族的第一颗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0" y="6448425"/>
            <a:ext cx="364959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0" y="6657975"/>
            <a:ext cx="3649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RV32IMAFC + Bv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3525500" y="6448425"/>
            <a:ext cx="36495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流水线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525500" y="6677025"/>
            <a:ext cx="410293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5-stage, in-order 5 级流水线，顺序执行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601200" y="7439025"/>
            <a:ext cx="364959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FPU / DSP 浮点运算单元 / 数字信号处理器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01200" y="7858125"/>
            <a:ext cx="36495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 · 16-bit SIMD 单指令多数据 · 16 位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3525500" y="7439025"/>
            <a:ext cx="36495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CLOCK 时钟频率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525500" y="7667625"/>
            <a:ext cx="3649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480 MHz @ 28 nm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601200" y="8620125"/>
            <a:ext cx="36495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 性能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01200" y="8848725"/>
            <a:ext cx="3649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2.14 DMIPS/MHz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3525500" y="8620125"/>
            <a:ext cx="36495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目标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525500" y="8848725"/>
            <a:ext cx="3649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ARM Cortex-M7</a:t>
            </a:r>
            <a:endParaRPr lang="en-US" sz="165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EBC4CB2-1264-DF1A-B8C9-AC7889F46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9" y="-1"/>
            <a:ext cx="9231151" cy="102870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005346" y="928688"/>
            <a:ext cx="41853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THE FAMILY 04 · 核心家族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topology of cores. 一套核心拓扑结构。</a:t>
            </a:r>
            <a:endParaRPr lang="en-US" sz="6300" dirty="0"/>
          </a:p>
        </p:txBody>
      </p:sp>
      <p:sp>
        <p:nvSpPr>
          <p:cNvPr id="7" name="Shape 4"/>
          <p:cNvSpPr/>
          <p:nvPr/>
        </p:nvSpPr>
        <p:spPr>
          <a:xfrm>
            <a:off x="1219200" y="4076700"/>
            <a:ext cx="158496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219200" y="4676775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371600" y="4286250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62300" y="4276725"/>
            <a:ext cx="31394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名称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67500" y="4276725"/>
            <a:ext cx="2171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等级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220200" y="4276725"/>
            <a:ext cx="52978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角色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820900" y="4276725"/>
            <a:ext cx="2171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状态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19200" y="5915025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371600" y="5105400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62300" y="4953000"/>
            <a:ext cx="3139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2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Vertex M7 顶点 M7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3162300" y="5448300"/>
            <a:ext cx="3139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6667500" y="5095875"/>
            <a:ext cx="2171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~ARM M7 约等于 ARM M7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20200" y="5095875"/>
            <a:ext cx="5297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 MCU · 旗舰起点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820900" y="5153025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FFCC0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DEV 开发中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219200" y="7086600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371600" y="6315075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162300" y="6191250"/>
            <a:ext cx="3139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-2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Tangent M4</a:t>
            </a:r>
            <a:endParaRPr lang="en-US" sz="2550" dirty="0"/>
          </a:p>
        </p:txBody>
      </p:sp>
      <p:sp>
        <p:nvSpPr>
          <p:cNvPr id="24" name="Text 21"/>
          <p:cNvSpPr/>
          <p:nvPr/>
        </p:nvSpPr>
        <p:spPr>
          <a:xfrm>
            <a:off x="3162300" y="6619875"/>
            <a:ext cx="3139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切线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667500" y="6315075"/>
            <a:ext cx="2171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~ARM M4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20200" y="6305550"/>
            <a:ext cx="5297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低功耗嵌入式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4820900" y="6362700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计划中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219200" y="8258175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371600" y="7486650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CV-03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162300" y="7362825"/>
            <a:ext cx="3139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-2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Nexus A55</a:t>
            </a:r>
            <a:endParaRPr lang="en-US" sz="2550" dirty="0"/>
          </a:p>
        </p:txBody>
      </p:sp>
      <p:sp>
        <p:nvSpPr>
          <p:cNvPr id="31" name="Text 28"/>
          <p:cNvSpPr/>
          <p:nvPr/>
        </p:nvSpPr>
        <p:spPr>
          <a:xfrm>
            <a:off x="3162300" y="7791450"/>
            <a:ext cx="3139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枢纽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667500" y="7486650"/>
            <a:ext cx="2171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~ARM A55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220200" y="7477125"/>
            <a:ext cx="5297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64-bit · Linux 应用处理器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4820900" y="7534275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计划中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219200" y="9496425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1371600" y="8686800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CV-04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3162300" y="8534400"/>
            <a:ext cx="3139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2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Manifold X1 流形 X1</a:t>
            </a:r>
            <a:endParaRPr lang="en-US" sz="2550" dirty="0"/>
          </a:p>
        </p:txBody>
      </p:sp>
      <p:sp>
        <p:nvSpPr>
          <p:cNvPr id="38" name="Text 35"/>
          <p:cNvSpPr/>
          <p:nvPr/>
        </p:nvSpPr>
        <p:spPr>
          <a:xfrm>
            <a:off x="3162300" y="9029700"/>
            <a:ext cx="3139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流形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6667500" y="867727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ACC AI 加速器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220200" y="8677275"/>
            <a:ext cx="5297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RVV 1.0 · 矩阵扩展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4820900" y="8734425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计划中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1219200" y="11125200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371600" y="9925050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CV-05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3162300" y="9772650"/>
            <a:ext cx="313944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25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M0 子午线 M0</a:t>
            </a:r>
            <a:endParaRPr lang="en-US" sz="2550" dirty="0"/>
          </a:p>
        </p:txBody>
      </p:sp>
      <p:sp>
        <p:nvSpPr>
          <p:cNvPr id="45" name="Text 42"/>
          <p:cNvSpPr/>
          <p:nvPr/>
        </p:nvSpPr>
        <p:spPr>
          <a:xfrm>
            <a:off x="3162300" y="10658475"/>
            <a:ext cx="3139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子午线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6667500" y="9915525"/>
            <a:ext cx="2171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~ARM M0+ 约等于 ARM M0+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9220200" y="9915525"/>
            <a:ext cx="5297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极简 · IoT · 电池供电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4820900" y="9972675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计划中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1219200" y="1159192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6161990" y="1159192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12-MONTH ROADMAP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environment first. 优先部署环境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1295400" y="2747962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目标不是最快的 core，而是最快能跑通的全流程。先闭环，再优化。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295400" y="3729037"/>
            <a:ext cx="158496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295400" y="4652962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447800" y="4005262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QUARTER 季度节点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52800" y="4005262"/>
            <a:ext cx="2171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MILESTONE 里程碑节点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29300" y="4005262"/>
            <a:ext cx="9536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DELIVERABLE 可交付成果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468600" y="4005262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状态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295400" y="6100762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447800" y="4995862"/>
            <a:ext cx="1600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· 2026 2026 年第二季度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352800" y="4929187"/>
            <a:ext cx="21717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2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</a:t>
            </a:r>
          </a:p>
          <a:p>
            <a:pPr marL="0" indent="0" algn="l">
              <a:buNone/>
            </a:pPr>
            <a:r>
              <a:rPr lang="en-US" sz="2250" kern="0" spc="-22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5829300" y="4986337"/>
            <a:ext cx="953604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pipeline 闭环 · FPGA bring-up · Blinky on real hardware AI 流水线闭环 · FPGA 上板调试 · 实体硬件跑马灯测试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468600" y="5062537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PROGRESS 进行中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295400" y="7548562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447800" y="6443662"/>
            <a:ext cx="1600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· 2026 2026 年第三季度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3352800" y="6376987"/>
            <a:ext cx="2171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kern="0" spc="-2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Vertex M7 α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5829300" y="6434137"/>
            <a:ext cx="953604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RV32IMAFC 通过 RISC-V compliance · CoreMark 上板 RV32IMAFC 通过 RISC-V 兼容性测试 · CoreMark 上板实测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468600" y="6510337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FFCC0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下一步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295400" y="9024937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447800" y="7920037"/>
            <a:ext cx="1600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 · 2026 2026 年第四季度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3352800" y="7824787"/>
            <a:ext cx="2171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2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SDK 1.0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5829300" y="7910512"/>
            <a:ext cx="953604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GCC/LLVM tuple · Zephyr port · 12 个示例工程 GCC/LLVM 工具链 · Zephyr 移植 · 12 个示例项目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5468600" y="7986712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FFCC0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下一步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219200" y="11582400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474850" y="9294018"/>
            <a:ext cx="180174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· 2027 2027 年第一季度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3379851" y="9227343"/>
            <a:ext cx="21717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2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Tape-out RC </a:t>
            </a:r>
          </a:p>
          <a:p>
            <a:pPr marL="0" indent="0" algn="l">
              <a:buNone/>
            </a:pPr>
            <a:r>
              <a:rPr lang="en-US" sz="2250" kern="0" spc="-22" dirty="0" err="1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流片准备就绪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5856351" y="9284493"/>
            <a:ext cx="953604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nm shuttle 申请 · DRC/LVS clean · datasheet 1.0 28 纳米流片申请 · DRC/LVS 验证通过 · 数据手册 1.0 版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5495651" y="9360693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 稍后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219200" y="13058775"/>
            <a:ext cx="15849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1371600" y="11953875"/>
            <a:ext cx="1600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64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· 2027 2027 年第二季度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3276600" y="11858625"/>
            <a:ext cx="2171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22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Silicon 硅片</a:t>
            </a:r>
            <a:endParaRPr lang="en-US" sz="2250" dirty="0"/>
          </a:p>
        </p:txBody>
      </p:sp>
      <p:sp>
        <p:nvSpPr>
          <p:cNvPr id="37" name="Text 34"/>
          <p:cNvSpPr/>
          <p:nvPr/>
        </p:nvSpPr>
        <p:spPr>
          <a:xfrm>
            <a:off x="5753100" y="11944350"/>
            <a:ext cx="95360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CV-01 晶圆回片 · 批量开发板 · Tangent M4 kickoff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5392400" y="12020550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5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 稍后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219200" y="13525500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6161990" y="13525500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219658" y="928688"/>
            <a:ext cx="39646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OPEN STACK 05 · 开放栈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19200" y="1638300"/>
            <a:ext cx="16325088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kern="0" spc="-12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Everything. In the open. 一切。皆在开放中。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1219200" y="3619500"/>
            <a:ext cx="1275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ISA 到 datasheet · 一切 Apache 2.0 · 没有隐藏层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19200" y="4600575"/>
            <a:ext cx="7848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open. 开放了什么。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219200" y="5400675"/>
            <a:ext cx="3733800" cy="781050"/>
          </a:xfrm>
          <a:prstGeom prst="roundRect">
            <a:avLst>
              <a:gd name="adj" fmla="val 14634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438275" y="5581650"/>
            <a:ext cx="3963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48905" y="5581650"/>
            <a:ext cx="16612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VERILOG · CHISEL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5105400" y="5400675"/>
            <a:ext cx="3733800" cy="781050"/>
          </a:xfrm>
          <a:prstGeom prst="roundRect">
            <a:avLst>
              <a:gd name="adj" fmla="val 14634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324475" y="5581650"/>
            <a:ext cx="179888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Testbench 测试平台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7161" y="5581650"/>
            <a:ext cx="16491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UVM-LITE · COCOTB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1219200" y="6334125"/>
            <a:ext cx="3733800" cy="771525"/>
          </a:xfrm>
          <a:prstGeom prst="roundRect">
            <a:avLst>
              <a:gd name="adj" fmla="val 14815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438275" y="6515100"/>
            <a:ext cx="23190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FPGA bitstream FPGA 比特流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81115" y="6515100"/>
            <a:ext cx="11290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KINTEX · ECP5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5105400" y="6334125"/>
            <a:ext cx="3733800" cy="771525"/>
          </a:xfrm>
          <a:prstGeom prst="roundRect">
            <a:avLst>
              <a:gd name="adj" fmla="val 14815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324475" y="6515100"/>
            <a:ext cx="178325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SDK 软件开发工具包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29525" y="6515100"/>
            <a:ext cx="10668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GCC · LLVM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1219200" y="7258050"/>
            <a:ext cx="3733800" cy="781050"/>
          </a:xfrm>
          <a:prstGeom prst="roundRect">
            <a:avLst>
              <a:gd name="adj" fmla="val 14634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438275" y="7439025"/>
            <a:ext cx="153947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 运行时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049786" y="7439025"/>
            <a:ext cx="176033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ZEPHYR · FREERTOS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5105400" y="7258050"/>
            <a:ext cx="3733800" cy="781050"/>
          </a:xfrm>
          <a:prstGeom prst="roundRect">
            <a:avLst>
              <a:gd name="adj" fmla="val 14634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5324475" y="7439025"/>
            <a:ext cx="17518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Datasheet 数据手册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00131" y="7439025"/>
            <a:ext cx="16961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MD · PDF · IP-XACT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1219200" y="8191500"/>
            <a:ext cx="3733800" cy="771525"/>
          </a:xfrm>
          <a:prstGeom prst="roundRect">
            <a:avLst>
              <a:gd name="adj" fmla="val 14815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438275" y="8372475"/>
            <a:ext cx="147012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Agents AI 智能体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832199" y="8372475"/>
            <a:ext cx="19779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PROMPTS · TOOLS 提示词 · 工具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5105400" y="8191500"/>
            <a:ext cx="3733800" cy="771525"/>
          </a:xfrm>
          <a:prstGeom prst="roundRect">
            <a:avLst>
              <a:gd name="adj" fmla="val 14815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5324475" y="8372475"/>
            <a:ext cx="146610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Benchmarks 性能基准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714381" y="8372475"/>
            <a:ext cx="198194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 · TRACES 日志 · 追踪记录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9448800" y="4600575"/>
            <a:ext cx="7848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-3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govern. 我们的治理方式。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9448800" y="5400675"/>
            <a:ext cx="784860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Apache 2.0 · 无专利陷阱 · 贡献者协议对等。所有 agent prompt、训练曲线、FPGA 回归日志与芯片 bring-up 视频全部公开。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448800" y="6322516"/>
            <a:ext cx="784860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社区治理：RFC 流程 · 公开 RFC 仓库 · 每周 tech sync 直播 · 年度 CrossV 峰会。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9448800" y="7244358"/>
            <a:ext cx="7848600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不存在的东西：闭源 EDA 依赖 · 付费 arch license · 商业早鸟版本。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219200" y="942022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6161990" y="942022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5938" y="2519363"/>
            <a:ext cx="14716125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0" kern="0" spc="-324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 the </a:t>
            </a:r>
            <a:r>
              <a:rPr lang="en-US" sz="10800" kern="0" spc="-3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future. </a:t>
            </a:r>
            <a:r>
              <a:rPr lang="en-US" sz="10800" kern="0" spc="-324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开创未来。</a:t>
            </a:r>
            <a:endParaRPr lang="en-US" sz="10800" dirty="0"/>
          </a:p>
        </p:txBody>
      </p:sp>
      <p:sp>
        <p:nvSpPr>
          <p:cNvPr id="3" name="Text 1"/>
          <p:cNvSpPr/>
          <p:nvPr/>
        </p:nvSpPr>
        <p:spPr>
          <a:xfrm>
            <a:off x="1785938" y="5719763"/>
            <a:ext cx="147161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kern="0" spc="6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加入开源社区 · 共建 AI 自己的 CPU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53213" y="6938963"/>
            <a:ext cx="4981575" cy="8286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38" y="7219950"/>
            <a:ext cx="26670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1438" y="7177088"/>
            <a:ext cx="35024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31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github.com/crossv</a:t>
            </a:r>
            <a:endParaRPr lang="en-US" sz="2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4570B2-EA93-1CC8-8603-BB63A8B10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9506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83DD71-8745-FED2-CF95-41553C59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466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D8D5A7-B6EA-D7B2-9928-45C2F6889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2983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61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174218" y="938213"/>
            <a:ext cx="19707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FOUNDERS · 02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19200" y="1562100"/>
            <a:ext cx="1632508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0" cap="none" spc="-108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Project Initiators.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19200" y="2400300"/>
            <a:ext cx="163250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9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项目发起人 · 软件 × 系统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219200" y="3476625"/>
            <a:ext cx="7620000" cy="5905500"/>
          </a:xfrm>
          <a:prstGeom prst="roundRect">
            <a:avLst>
              <a:gd name="adj" fmla="val 451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24025" y="4019550"/>
            <a:ext cx="114300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24025" y="5391150"/>
            <a:ext cx="68086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31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INITIATOR · SOFTWARE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24025" y="5791200"/>
            <a:ext cx="680866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-48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吴伟 </a:t>
            </a:r>
            <a:r>
              <a:rPr kumimoji="0" lang="en-US" sz="1350" b="0" i="0" u="none" strike="noStrike" kern="0" cap="none" spc="-4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WEI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24025" y="6877050"/>
            <a:ext cx="68086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苦芽科技联合创始人 · LLVM 基金会理事 · RISC-V 国际基金会技术委员会委员 · PLCT 实验室创始人 · "甲辰计划"发起人。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724025" y="8334375"/>
            <a:ext cx="6610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724025" y="8648700"/>
            <a:ext cx="497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82941" y="8572500"/>
            <a:ext cx="2027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Software &amp; Compilers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448800" y="3476625"/>
            <a:ext cx="7620000" cy="5905500"/>
          </a:xfrm>
          <a:prstGeom prst="roundRect">
            <a:avLst>
              <a:gd name="adj" fmla="val 451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953625" y="4019550"/>
            <a:ext cx="1143000" cy="114300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953625" y="5391150"/>
            <a:ext cx="68086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31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INITIATOR · SYSTEMS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953625" y="5791200"/>
            <a:ext cx="680866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-48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吴冶 </a:t>
            </a:r>
            <a:r>
              <a:rPr kumimoji="0" lang="en-US" sz="1350" b="0" i="0" u="none" strike="noStrike" kern="0" cap="none" spc="-4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YE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953625" y="6877050"/>
            <a:ext cx="680866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英特尔智能边缘计算联合研究院常务副院长 · 20+ 年软硬件全栈系统专家 · 主导 5G ORAN、TD-LTE 小基站、100G 以太网等系统 · 英特尔最高荣誉 IAA。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953625" y="8334375"/>
            <a:ext cx="6610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953625" y="8648700"/>
            <a:ext cx="497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231987" y="8572500"/>
            <a:ext cx="2408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Full-stack Systems / CEO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219200" y="976312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6161990" y="976312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858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6953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6953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882813" y="709613"/>
            <a:ext cx="22621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· OVERVIEW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19200" y="1404938"/>
            <a:ext cx="1632508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0" cap="none" spc="-108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full stack, covered.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19200" y="2890838"/>
            <a:ext cx="163250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全职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+ 3 兼职 · 覆盖从编译器到 FPGA 验证的完整链路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full-time + 3 part-time · compilers → architecture → MCU → FPGA → verification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219200" y="3595688"/>
            <a:ext cx="5130701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95425" y="3871913"/>
            <a:ext cx="47155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INITIATOR · 兼职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95425" y="4138613"/>
            <a:ext cx="47155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吴伟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WEI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95425" y="4824413"/>
            <a:ext cx="47155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苦芽科技联合创始人 · LLVM 基金会理事 · PLCT 创始人 · "甲辰计划"发起人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95425" y="5434013"/>
            <a:ext cx="457825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95425" y="5595937"/>
            <a:ext cx="4715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Software &amp; Compilers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78501" y="3595688"/>
            <a:ext cx="5130850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4726" y="3871913"/>
            <a:ext cx="4715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INITIATOR · CEO · 全职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4726" y="4138613"/>
            <a:ext cx="47157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吴冶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YE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4726" y="4824413"/>
            <a:ext cx="4715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英特尔智能边缘计算联合研究院常务副院长 · 20+ 年软硬件全栈 · IAA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54726" y="5434013"/>
            <a:ext cx="45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4726" y="5595937"/>
            <a:ext cx="47157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Full-stack Systems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1937950" y="3595688"/>
            <a:ext cx="5130850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214175" y="3871913"/>
            <a:ext cx="4715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ARCHITECT · 全职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214175" y="4138613"/>
            <a:ext cx="47157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李东声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 DONGSHENG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2214175" y="4824413"/>
            <a:ext cx="4715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英特尔处理器架构师 · CPU 大核 / NPU / SoC · 专利 10+ · 两本架构著作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2214175" y="5434013"/>
            <a:ext cx="45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2214175" y="5595937"/>
            <a:ext cx="47157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Architecture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219200" y="6348413"/>
            <a:ext cx="5130701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95425" y="6624638"/>
            <a:ext cx="47155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HARDWARE · 全职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495425" y="6891338"/>
            <a:ext cx="47155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陈曦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CHEN XI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495425" y="7577138"/>
            <a:ext cx="47155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英特尔硬件设计专家 · 高性能计算 10+ 年 · 架构→原型全流程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495425" y="8186738"/>
            <a:ext cx="457825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495425" y="8348663"/>
            <a:ext cx="4715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MCU Design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78501" y="6348413"/>
            <a:ext cx="5130850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854726" y="6624638"/>
            <a:ext cx="4715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VERIFICATION ·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54726" y="6891338"/>
            <a:ext cx="47157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石侃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 KAN · PhD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854726" y="7577138"/>
            <a:ext cx="4715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中科院计算所副研究员 · RISC-V 国际基金会技委委员 · Imperial PhD · MICRO/ASPLOS/HPCA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854726" y="8186738"/>
            <a:ext cx="45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854726" y="8348663"/>
            <a:ext cx="47157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FPGA Verification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1937950" y="6348413"/>
            <a:ext cx="5130850" cy="2524125"/>
          </a:xfrm>
          <a:prstGeom prst="roundRect">
            <a:avLst>
              <a:gd name="adj" fmla="val 75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2214175" y="6624638"/>
            <a:ext cx="4715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VERIFICATION · </a:t>
            </a:r>
            <a:r>
              <a:rPr kumimoji="0" lang="en-US" sz="1600" b="0" i="0" u="none" strike="noStrike" kern="0" cap="none" spc="293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兼职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2214175" y="6891338"/>
            <a:ext cx="47157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0" cap="none" spc="-33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穆洋 </a:t>
            </a:r>
            <a:r>
              <a:rPr kumimoji="0" lang="en-US" sz="1500" b="0" i="0" u="none" strike="noStrike" kern="0" cap="none" spc="-33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 YANG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2214175" y="7577138"/>
            <a:ext cx="4715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博瑞晶芯 UT 负责人 · 13 年前端验证 · ARM V9 / 香山 RISC-V CPU 核心验证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2214175" y="8186738"/>
            <a:ext cx="45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2214175" y="8348663"/>
            <a:ext cx="47157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Front-end EDA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219200" y="94011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6161990" y="94011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01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011025" y="1714500"/>
            <a:ext cx="5787465" cy="6032962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INITIATOR · SOFTWARE &amp; COMPILERS · PART-TIME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2109788"/>
            <a:ext cx="3045318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吴伟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18720" y="2895600"/>
            <a:ext cx="12763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WEI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苦芽科技联合创始人 · CrossV 项目发起人 · </a:t>
            </a:r>
            <a:r>
              <a:rPr kumimoji="0" lang="en-US" sz="2250" b="0" i="0" u="none" strike="noStrike" kern="0" cap="none" spc="113" normalizeH="0" baseline="0" noProof="0" dirty="0" err="1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负责项目软件和编译器</a:t>
            </a: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376738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4767263"/>
            <a:ext cx="5241700" cy="2174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在开源编译器和 RISC-V 社区有多年深耕。2019 年创建并领导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PLCT 实验室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，推动全球 RISC-V 软件生态的发展，在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RT-Thread on RISC-V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方面有长期投入。2024 年除夕，联合多家机构共同发起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"甲辰计划"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——致力于在 2036 年前实现 RISC-V 软件生态的全面繁荣。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47672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49291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167313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苦芽科技 联合创始人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562451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578643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APPOINTMENTS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024563"/>
            <a:ext cx="4765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LLVM 基金会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理事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RISC-V 国际基金会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技术委员会委员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CCF 系统软件专委 RISC-V 基础软件工作组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组长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70151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71770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LEGACY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415213"/>
            <a:ext cx="5132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PLCT 实验室 创始人（2019） 甲辰计划 联合发起人（2024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）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02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620354" y="1714499"/>
            <a:ext cx="4448446" cy="481488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INITIATOR · FULL-STACK SYSTEMS / CEO · FULL-TIME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1895475"/>
            <a:ext cx="3045318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吴冶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18720" y="2895600"/>
            <a:ext cx="107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WU YE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 常务副院长 · 公司 CEO · 全职项目发起人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376738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4767263"/>
            <a:ext cx="5241700" cy="2174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20+ 年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软硬件全栈系统专家，具备从芯片到软件、再到复杂系统的全链条整合，以及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驱动系统构建与商业化落地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的顶尖能力。曾主导过定义行业标准的系统，包括高性能 RISC-V CPU、5G 车联网芯片、虚拟化基站系统（5G ORAN 基石）、首个 TD-LTE 小型基站、100G 以太网芯片系统等。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47672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49291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167313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常务副院长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CrossV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CEO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589121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605313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 RECORD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291263"/>
            <a:ext cx="476526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 RISC-V CPU 5G 车联网芯片 · 5G ORAN TD-LTE 小基站（行业首个） 100G 以太网芯片系统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75485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7710487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HONOR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948613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英特尔最高荣誉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IAA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Intel Achievement Award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03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011025" y="1714499"/>
            <a:ext cx="5057775" cy="490120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· CPU ARCHITECTURE · FULL-TIME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1895475"/>
            <a:ext cx="4567977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李东声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97029" y="2895600"/>
            <a:ext cx="2476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 DONGSHENG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 处理器架构师 · 全职负责高性能处理器架构设计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762500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5153025"/>
            <a:ext cx="5241700" cy="146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专注于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高性能处理器架构设计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与关键技术研究。参与和主导多项高性能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大核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 架构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以及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 设计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；商用产品覆盖服务器、终端、边缘计算等多个领域。授权国内外发明专利十余项。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515302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531495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FOCUS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553075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 CPU 大核 · NPU · SoC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601027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617220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PATENTS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410325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国内外发明专利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686752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702945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AUTHORED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267575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《高性能超标量 CPU 微架构剖析与设计》 《AI 处理器硬件架构设计》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04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835494" y="1714500"/>
            <a:ext cx="5233306" cy="5195888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· MCU DESIGN · FULL-TIME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1895475"/>
            <a:ext cx="3045318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陈曦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18720" y="2895600"/>
            <a:ext cx="14763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CHEN XI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英特尔智能边缘计算联合研究院 硬件设计专家 · 全职负责项目 MCU 设计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376738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4767263"/>
            <a:ext cx="524170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深耕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高性能计算领域十余年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，擅长将复杂算法转化为极致的硬件架构。具有从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芯片架构设计到原型实现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的全流程项目经验。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47672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49291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FOCUS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167313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MCU 设计 · 硬件架构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562451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578643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024563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高性能计算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 年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 → 硬件架构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67484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69103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FULL-CYCLE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148513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芯片架构设计 · 原型实现 · 全流程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05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011025" y="1714499"/>
            <a:ext cx="5057775" cy="584504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· FPGA VERIFICATION · PART-TIME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1895475"/>
            <a:ext cx="3917402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 err="1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石侃</a:t>
            </a: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kumimoji="0" lang="en-US" sz="1350" b="0" i="0" u="none" strike="noStrike" kern="0" cap="none" spc="-36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PhD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65403" y="2895600"/>
            <a:ext cx="14763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 KAN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中科院计算所 副研究员 · RISC-V 国际基金会 技术委员会委员 · 负责项目 FPGA 验证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762500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5153025"/>
            <a:ext cx="5241700" cy="2174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研究方向：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芯片敏捷设计与验证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FPGA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云数据中心体系结构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等。博士毕业于伦敦帝国理工学院，曾任英特尔英国研发中心芯片设计工程师，兼任英特尔研究院研究科学家。有超过十年的芯片研究和从业经历，研究成果发表于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MICRO、ASPLOS、HPCA、FPGA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等国际顶会。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515302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531495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553075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中科院计算所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副研究员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RISC-V 国际基金会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技术委员会委员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627697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643890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EDUCATION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677025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Imperial College London ·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7134225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7296150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AWARDS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534275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IEEE Micro Top-Picks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论文奖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HiPEAC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论文奖 × 2 · 最佳论文提名 × 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36961" y="938213"/>
            <a:ext cx="240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338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06 / 06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827100" y="1714499"/>
            <a:ext cx="5241700" cy="4891085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blurRad="952500" dist="50800" dir="16200000" algn="bl" rotWithShape="0">
              <a:srgbClr val="0A84FF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485900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05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· FRONT-END EDA VERIFICATION · PART-TIME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1895475"/>
            <a:ext cx="3045318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0" cap="none" spc="-36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穆洋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18720" y="2895600"/>
            <a:ext cx="14763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315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 YANG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3533775"/>
            <a:ext cx="107918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0" cap="none" spc="113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博瑞晶芯 UT 验证负责人 · 负责项目前端 EDA 验证 </a:t>
            </a:r>
            <a:r>
              <a:rPr kumimoji="0" lang="en-US" sz="1350" b="0" i="0" u="none" strike="noStrike" kern="0" cap="none" spc="113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（兼职）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9200" y="4376738"/>
            <a:ext cx="15849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0" y="4767263"/>
            <a:ext cx="5241700" cy="181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拥有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年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前端验证经验、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年以上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处理器与 SoC 验证经验，专注于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与 RISC-V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架构及高性能处理器验证。主导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V9 系列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及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香山 RISC-V 系列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核心验证项目，覆盖 CPU 核心完整功能验证路径，具备验证架构规划、自动化平台建设与团队带领经验。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70229" y="47672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70229" y="49291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70229" y="5167313"/>
            <a:ext cx="4765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博瑞晶芯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UT 验证负责人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70229" y="562451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70229" y="578643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70229" y="6024563"/>
            <a:ext cx="4765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前端验证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年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处理器 / SoC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6+ 年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· RISC-V · 高性能处理器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70229" y="6748463"/>
            <a:ext cx="46264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70229" y="6910388"/>
            <a:ext cx="476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244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LED PROJECTS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70229" y="7148513"/>
            <a:ext cx="4765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V9 系列 CPU 核心验证 香山 RISC-V 系列 CPU 核心验证 参与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款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千万级量产芯片验证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19200" y="9172575"/>
            <a:ext cx="1371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161990" y="9172575"/>
            <a:ext cx="983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2103120"/>
            <a:ext cx="1668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1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AI-NATIVE HARDWARE VERIFICATION LOOP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0120" y="2606040"/>
            <a:ext cx="1668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原生硬件验证闭环  ·  V 2.0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700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</a:t>
            </a:r>
            <a:r>
              <a:rPr kumimoji="0" lang="en-US" sz="18000" b="1" i="0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r>
              <a:rPr kumimoji="0" lang="en-US" sz="180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Verif</a:t>
            </a:r>
            <a:endParaRPr kumimoji="0" lang="en-US" sz="1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700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18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  动  ·  闭  环  ·  签  收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6995160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Drive ·  Close the loop ·  Sign off.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64592" cy="164592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8823960"/>
            <a:ext cx="17007840" cy="10973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9006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6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 · APR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9326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穆洋 · 2026 年 4 月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9006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6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× VERIFICATION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9326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× 硬件验证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978640" y="9006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6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2.0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78640" y="9326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 2.0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349BBEA4-F8FF-311D-60F6-78602068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EACB0F1D-7086-3D3D-680C-CF5F615226BA}"/>
              </a:ext>
            </a:extLst>
          </p:cNvPr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525EB17-CDEC-7E9D-AC54-5964425205F3}"/>
              </a:ext>
            </a:extLst>
          </p:cNvPr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0" cap="none" spc="-16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PHASE 01 · PAIN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阶段 01 · 痛点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Three weeks.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 err="1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三周</a:t>
            </a:r>
            <a:r>
              <a:rPr kumimoji="0" lang="zh-CN" alt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～几月</a:t>
            </a: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——验证工程师的真实代价。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577840"/>
            <a:ext cx="457200" cy="36576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TESTPOINT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测试点分解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6720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</a:t>
            </a:r>
            <a:r>
              <a:rPr lang="en-US" altLang="zh-CN" sz="1500" i="1" dirty="0">
                <a:solidFill>
                  <a:srgbClr val="FF37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</a:t>
            </a:r>
            <a:r>
              <a:rPr kumimoji="0" lang="en-US" sz="1500" b="0" i="1" u="none" strike="noStrike" kern="1200" cap="none" spc="0" normalizeH="0" baseline="0" noProof="0" dirty="0" err="1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天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～</a:t>
            </a:r>
            <a:r>
              <a:rPr kumimoji="0" lang="en-US" altLang="zh-CN" sz="1500" b="0" i="1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1-2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个月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7269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维度不一致，corner case 漏了无人察觉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7772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跨模块方法论全靠经验，无法复用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8275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8 维还是 12 维？谁来保证不遗漏？</a:t>
            </a:r>
          </a:p>
        </p:txBody>
      </p:sp>
      <p:sp>
        <p:nvSpPr>
          <p:cNvPr id="15" name="Text 13"/>
          <p:cNvSpPr/>
          <p:nvPr/>
        </p:nvSpPr>
        <p:spPr>
          <a:xfrm>
            <a:off x="6373368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73368" y="5577840"/>
            <a:ext cx="457200" cy="36576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3368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UVM ENV</a:t>
            </a:r>
          </a:p>
        </p:txBody>
      </p:sp>
      <p:sp>
        <p:nvSpPr>
          <p:cNvPr id="18" name="Text 16"/>
          <p:cNvSpPr/>
          <p:nvPr/>
        </p:nvSpPr>
        <p:spPr>
          <a:xfrm>
            <a:off x="6373368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环境搭建</a:t>
            </a:r>
          </a:p>
        </p:txBody>
      </p:sp>
      <p:sp>
        <p:nvSpPr>
          <p:cNvPr id="19" name="Text 17"/>
          <p:cNvSpPr/>
          <p:nvPr/>
        </p:nvSpPr>
        <p:spPr>
          <a:xfrm>
            <a:off x="6373368" y="6720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~ 7 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73368" y="7269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agent 分组靠人判断，RM 建模靠摸索</a:t>
            </a:r>
          </a:p>
        </p:txBody>
      </p:sp>
      <p:sp>
        <p:nvSpPr>
          <p:cNvPr id="21" name="Text 19"/>
          <p:cNvSpPr/>
          <p:nvPr/>
        </p:nvSpPr>
        <p:spPr>
          <a:xfrm>
            <a:off x="6373368" y="7772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宏依赖链一断，编译报错来回调试</a:t>
            </a:r>
          </a:p>
        </p:txBody>
      </p:sp>
      <p:sp>
        <p:nvSpPr>
          <p:cNvPr id="22" name="Text 20"/>
          <p:cNvSpPr/>
          <p:nvPr/>
        </p:nvSpPr>
        <p:spPr>
          <a:xfrm>
            <a:off x="6373368" y="8275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&gt;100 端口大模块，wrapper 写到手抽筋</a:t>
            </a:r>
          </a:p>
        </p:txBody>
      </p:sp>
      <p:sp>
        <p:nvSpPr>
          <p:cNvPr id="23" name="Text 21"/>
          <p:cNvSpPr/>
          <p:nvPr/>
        </p:nvSpPr>
        <p:spPr>
          <a:xfrm>
            <a:off x="12106656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106656" y="5577840"/>
            <a:ext cx="457200" cy="36576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106656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SIGNOFF</a:t>
            </a:r>
          </a:p>
        </p:txBody>
      </p:sp>
      <p:sp>
        <p:nvSpPr>
          <p:cNvPr id="26" name="Text 24"/>
          <p:cNvSpPr/>
          <p:nvPr/>
        </p:nvSpPr>
        <p:spPr>
          <a:xfrm>
            <a:off x="12106656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覆盖率收敛 → 核签</a:t>
            </a:r>
          </a:p>
        </p:txBody>
      </p:sp>
      <p:sp>
        <p:nvSpPr>
          <p:cNvPr id="27" name="Text 25"/>
          <p:cNvSpPr/>
          <p:nvPr/>
        </p:nvSpPr>
        <p:spPr>
          <a:xfrm>
            <a:off x="12106656" y="6720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</a:t>
            </a:r>
            <a:r>
              <a:rPr lang="en-US" altLang="zh-CN" sz="1500" i="1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r>
              <a:rPr lang="zh-CN" altLang="en-US" sz="1500" i="1" dirty="0">
                <a:solidFill>
                  <a:srgbClr val="0A8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</a:t>
            </a:r>
            <a:r>
              <a:rPr kumimoji="0" lang="en-US" sz="1500" b="0" i="1" u="none" strike="noStrike" kern="1200" cap="none" spc="0" normalizeH="0" baseline="0" noProof="0" dirty="0" err="1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周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～ </a:t>
            </a:r>
            <a:r>
              <a:rPr kumimoji="0" lang="en-US" altLang="zh-CN" sz="1500" b="0" i="1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4-5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106656" y="7269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218 条 checklist 人肉逐条走</a:t>
            </a:r>
          </a:p>
        </p:txBody>
      </p:sp>
      <p:sp>
        <p:nvSpPr>
          <p:cNvPr id="29" name="Text 27"/>
          <p:cNvSpPr/>
          <p:nvPr/>
        </p:nvSpPr>
        <p:spPr>
          <a:xfrm>
            <a:off x="12106656" y="7772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waiver 谁来判、谁来签、依据是什么？</a:t>
            </a:r>
          </a:p>
        </p:txBody>
      </p:sp>
      <p:sp>
        <p:nvSpPr>
          <p:cNvPr id="30" name="Text 28"/>
          <p:cNvSpPr/>
          <p:nvPr/>
        </p:nvSpPr>
        <p:spPr>
          <a:xfrm>
            <a:off x="12106656" y="8275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·  核签包拼凑 6 份文档，重复劳动</a:t>
            </a:r>
          </a:p>
        </p:txBody>
      </p:sp>
      <p:sp>
        <p:nvSpPr>
          <p:cNvPr id="31" name="Text 29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PHASE 02 · MAP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阶段 02 · 全图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Six skills, two paths,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 skill，两条路径，一个签收。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4297680"/>
            <a:ext cx="17007840" cy="5120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2B87C48-EAE1-5ED9-FA11-0D93FE989069}"/>
              </a:ext>
            </a:extLst>
          </p:cNvPr>
          <p:cNvSpPr/>
          <p:nvPr/>
        </p:nvSpPr>
        <p:spPr>
          <a:xfrm>
            <a:off x="640080" y="484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PHASE 02 · ROUTE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阶段 02 · 你的模块走哪条？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Pick your road.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两条路径，共同终点</a:t>
            </a:r>
            <a:r>
              <a:rPr kumimoji="0" lang="en-US" sz="22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63004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51377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REGULAR MODULE PATH</a:t>
            </a:r>
          </a:p>
        </p:txBody>
      </p:sp>
      <p:sp>
        <p:nvSpPr>
          <p:cNvPr id="9" name="Text 7"/>
          <p:cNvSpPr/>
          <p:nvPr/>
        </p:nvSpPr>
        <p:spPr>
          <a:xfrm>
            <a:off x="640080" y="567603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普通模块路径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6327252"/>
            <a:ext cx="7955280" cy="640080"/>
          </a:xfrm>
          <a:prstGeom prst="rect">
            <a:avLst/>
          </a:prstGeom>
          <a:solidFill>
            <a:srgbClr val="0A0A0A"/>
          </a:solidFill>
          <a:ln w="9525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63821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 + Spec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66747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输入材料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7040484"/>
            <a:ext cx="7955280" cy="640080"/>
          </a:xfrm>
          <a:prstGeom prst="rect">
            <a:avLst/>
          </a:prstGeom>
          <a:solidFill>
            <a:srgbClr val="0A0A0A"/>
          </a:solidFill>
          <a:ln w="9525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70953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testpoint-gen  v1 / v2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73879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或 12 维度分解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7753716"/>
            <a:ext cx="7955280" cy="640080"/>
          </a:xfrm>
          <a:prstGeom prst="rect">
            <a:avLst/>
          </a:prstGeom>
          <a:solidFill>
            <a:srgbClr val="0A0A0A"/>
          </a:solidFill>
          <a:ln w="9525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78085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uvm-env-gen  v1 / v2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81011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可编译 UVM 环境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8466948"/>
            <a:ext cx="7955280" cy="640080"/>
          </a:xfrm>
          <a:prstGeom prst="rect">
            <a:avLst/>
          </a:prstGeom>
          <a:solidFill>
            <a:srgbClr val="0A0A0A"/>
          </a:solidFill>
          <a:ln w="9525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85218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verif-signoff-driver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8680" y="88144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驱动到 sign-off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9418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适用：接口清晰、无 ISA 解码、&lt; 5 子模块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463004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51377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ISA / COMPLEX PATH</a:t>
            </a:r>
          </a:p>
        </p:txBody>
      </p:sp>
      <p:sp>
        <p:nvSpPr>
          <p:cNvPr id="25" name="Text 23"/>
          <p:cNvSpPr/>
          <p:nvPr/>
        </p:nvSpPr>
        <p:spPr>
          <a:xfrm>
            <a:off x="9418320" y="56738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ISA / 复杂模块路径</a:t>
            </a:r>
          </a:p>
        </p:txBody>
      </p:sp>
      <p:sp>
        <p:nvSpPr>
          <p:cNvPr id="26" name="Shape 24"/>
          <p:cNvSpPr/>
          <p:nvPr/>
        </p:nvSpPr>
        <p:spPr>
          <a:xfrm>
            <a:off x="9418320" y="6327252"/>
            <a:ext cx="795528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46920" y="63638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 + Spec + ISA Spec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46920" y="66015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输入材料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418320" y="6894180"/>
            <a:ext cx="795528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46920" y="69307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isa-coverage-mapper  ★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46920" y="71685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自动抽取 ISA 表 · 双源互校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418320" y="7461108"/>
            <a:ext cx="795528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46920" y="74976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testpoint-gen-v2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46920" y="77354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维度 + ISA 子树合并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18320" y="8028036"/>
            <a:ext cx="795528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46920" y="80646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uvm-env-gen-v2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46920" y="83023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auto-wrapper · 大模块支持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18320" y="8594964"/>
            <a:ext cx="7955280" cy="50292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46920" y="86315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verif-signoff-driver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46920" y="88692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驱动到 sign-off（同路径①）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418320" y="9418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适用：decode / ISA 模块、≥ 5 子模块、&gt; 100 端口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AA90C0E4-2226-6427-BF37-F87EB8994897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STAGE 1 · DECOMPOSE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步骤 1 · testpoint 分解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From guess to formula.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"靠经验" 到 "用公式"。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659731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5504688"/>
            <a:ext cx="7915523" cy="53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testpoint-gen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5907820"/>
            <a:ext cx="16358748" cy="45719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619430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6-PHASE 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649414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6-phase 流程，Phase 1 × 4 并行 agent 读材料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83438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8 FUNCTIONAL DIMS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713422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功能维度：结构 / 输入 / 状态 / 更新 / 输出 / 恢复 / 时序 / cross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747446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16 QUALITY CHECKS</a:t>
            </a:r>
          </a:p>
        </p:txBody>
      </p:sp>
      <p:sp>
        <p:nvSpPr>
          <p:cNvPr id="15" name="Text 13"/>
          <p:cNvSpPr/>
          <p:nvPr/>
        </p:nvSpPr>
        <p:spPr>
          <a:xfrm>
            <a:off x="640080" y="777430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项质量检查，失败可 re-dispatch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811454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3-FORMAT OUTPUT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" y="841438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三格式输出：testpoints.md / .xlsx / .json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875462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ISA OPTIONAL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905446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 输入可选；普通模块不需要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8320" y="45902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8320" y="5504688"/>
            <a:ext cx="7915523" cy="53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testpoint-gen ★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18320" y="5907819"/>
            <a:ext cx="7915523" cy="45719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619430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7-PHASE 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649414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 Phase 1.5 Inventory + Phase 3.5 Cross-Pollinator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18320" y="683438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BF5AF2"/>
                </a:solidFill>
                <a:latin typeface="JetBrains Mono" pitchFamily="34" charset="0"/>
                <a:ea typeface="JetBrains Mono" pitchFamily="34" charset="-122"/>
              </a:rPr>
              <a:t>12 DIMENSIONS  (+4)</a:t>
            </a:r>
          </a:p>
        </p:txBody>
      </p:sp>
      <p:sp>
        <p:nvSpPr>
          <p:cNvPr id="26" name="Text 24"/>
          <p:cNvSpPr/>
          <p:nvPr/>
        </p:nvSpPr>
        <p:spPr>
          <a:xfrm>
            <a:off x="9418320" y="713422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8 功能 + 4 非功能（Power / DFT / Security / Perf）</a:t>
            </a:r>
          </a:p>
        </p:txBody>
      </p:sp>
      <p:sp>
        <p:nvSpPr>
          <p:cNvPr id="27" name="Text 25"/>
          <p:cNvSpPr/>
          <p:nvPr/>
        </p:nvSpPr>
        <p:spPr>
          <a:xfrm>
            <a:off x="9418320" y="747446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BF5AF2"/>
                </a:solidFill>
                <a:latin typeface="JetBrains Mono" pitchFamily="34" charset="0"/>
                <a:ea typeface="JetBrains Mono" pitchFamily="34" charset="-122"/>
              </a:rPr>
              <a:t>21 QUALITY CHECKS</a:t>
            </a:r>
          </a:p>
        </p:txBody>
      </p:sp>
      <p:sp>
        <p:nvSpPr>
          <p:cNvPr id="28" name="Text 26"/>
          <p:cNvSpPr/>
          <p:nvPr/>
        </p:nvSpPr>
        <p:spPr>
          <a:xfrm>
            <a:off x="9418320" y="777430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新增 inventory 命中率、非功能比例校验</a:t>
            </a:r>
          </a:p>
        </p:txBody>
      </p:sp>
      <p:sp>
        <p:nvSpPr>
          <p:cNvPr id="29" name="Text 27"/>
          <p:cNvSpPr/>
          <p:nvPr/>
        </p:nvSpPr>
        <p:spPr>
          <a:xfrm>
            <a:off x="9418320" y="811454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BF5AF2"/>
                </a:solidFill>
                <a:latin typeface="JetBrains Mono" pitchFamily="34" charset="0"/>
                <a:ea typeface="JetBrains Mono" pitchFamily="34" charset="-122"/>
              </a:rPr>
              <a:t>INVENTORY-DRIVEN</a:t>
            </a:r>
          </a:p>
        </p:txBody>
      </p:sp>
      <p:sp>
        <p:nvSpPr>
          <p:cNvPr id="30" name="Text 28"/>
          <p:cNvSpPr/>
          <p:nvPr/>
        </p:nvSpPr>
        <p:spPr>
          <a:xfrm>
            <a:off x="9418320" y="841438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TP 目标按 RTL 复杂度算公式，拒绝拍脑袋</a:t>
            </a:r>
          </a:p>
        </p:txBody>
      </p:sp>
      <p:sp>
        <p:nvSpPr>
          <p:cNvPr id="31" name="Text 29"/>
          <p:cNvSpPr/>
          <p:nvPr/>
        </p:nvSpPr>
        <p:spPr>
          <a:xfrm>
            <a:off x="9418320" y="8754624"/>
            <a:ext cx="7915523" cy="429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BF5AF2"/>
                </a:solidFill>
                <a:latin typeface="JetBrains Mono" pitchFamily="34" charset="0"/>
                <a:ea typeface="JetBrains Mono" pitchFamily="34" charset="-122"/>
              </a:rPr>
              <a:t>DECODE AUTO-DELEGATE</a:t>
            </a:r>
          </a:p>
        </p:txBody>
      </p:sp>
      <p:sp>
        <p:nvSpPr>
          <p:cNvPr id="32" name="Text 30"/>
          <p:cNvSpPr/>
          <p:nvPr/>
        </p:nvSpPr>
        <p:spPr>
          <a:xfrm>
            <a:off x="9418320" y="9054468"/>
            <a:ext cx="7915523" cy="48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Phase 3b 委托 isa-coverage-mapper，合并 ISA 子树</a:t>
            </a:r>
          </a:p>
        </p:txBody>
      </p:sp>
      <p:sp>
        <p:nvSpPr>
          <p:cNvPr id="33" name="Text 31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7B2E57B6-E041-FFC1-C147-B833175D3018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STAGE 1 · INTERNALS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步骤 1 · v2 内部机制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Inventory drives everything.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 Inventory 决定一切。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5029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INPUT CHECK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5340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输入检查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5687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91640" y="56875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PARALLEL READ</a:t>
            </a:r>
          </a:p>
        </p:txBody>
      </p:sp>
      <p:sp>
        <p:nvSpPr>
          <p:cNvPr id="12" name="Text 10"/>
          <p:cNvSpPr/>
          <p:nvPr/>
        </p:nvSpPr>
        <p:spPr>
          <a:xfrm>
            <a:off x="1691640" y="5998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并行读材料 ×4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6345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91640" y="6345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RTL INVENTORY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91640" y="6656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枚举信号/FSM/RAM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6547104"/>
            <a:ext cx="146304" cy="146304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70043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91640" y="70043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CROSS-SYNTHESIS</a:t>
            </a:r>
          </a:p>
        </p:txBody>
      </p:sp>
      <p:sp>
        <p:nvSpPr>
          <p:cNvPr id="19" name="Text 17"/>
          <p:cNvSpPr/>
          <p:nvPr/>
        </p:nvSpPr>
        <p:spPr>
          <a:xfrm>
            <a:off x="1691640" y="7315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维功能树 + 追溯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7662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91640" y="7662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12-DIM PARALLEL</a:t>
            </a:r>
          </a:p>
        </p:txBody>
      </p:sp>
      <p:sp>
        <p:nvSpPr>
          <p:cNvPr id="22" name="Text 20"/>
          <p:cNvSpPr/>
          <p:nvPr/>
        </p:nvSpPr>
        <p:spPr>
          <a:xfrm>
            <a:off x="1691640" y="7973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子 Agent 并发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8321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640" y="8321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CROSS-POLLINATOR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91640" y="8631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扫漏网条目 · 兜底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8522208"/>
            <a:ext cx="146304" cy="146304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8979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91640" y="8979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QUALITY + OUTPUT</a:t>
            </a:r>
          </a:p>
        </p:txBody>
      </p:sp>
      <p:sp>
        <p:nvSpPr>
          <p:cNvPr id="29" name="Text 27"/>
          <p:cNvSpPr/>
          <p:nvPr/>
        </p:nvSpPr>
        <p:spPr>
          <a:xfrm>
            <a:off x="1691640" y="9290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项检查 + 三格式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832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TP_TARGET DENSITY FORMULA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18320" y="5394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1.5 — RTL 复杂度 → 测点目标数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418320" y="5852160"/>
            <a:ext cx="8229600" cy="1783080"/>
          </a:xfrm>
          <a:prstGeom prst="rect">
            <a:avLst/>
          </a:prstGeom>
          <a:solidFill>
            <a:srgbClr val="0A0A0A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92640" y="598932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TP_target = max(10,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0.4 × ⌈signal_count / 20⌉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+ 3   × fsm_count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+ 2   × ram_count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+ 0.8 × config_bit_count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+ 0.2 × LoC / 1000)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18320" y="7818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12 DIMENSIONS  ·  8 functional + 4 non-functional</a:t>
            </a:r>
          </a:p>
        </p:txBody>
      </p:sp>
      <p:sp>
        <p:nvSpPr>
          <p:cNvPr id="35" name="Text 33"/>
          <p:cNvSpPr/>
          <p:nvPr/>
        </p:nvSpPr>
        <p:spPr>
          <a:xfrm>
            <a:off x="9418320" y="81838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 结构  D2 输入  D3 状态  D4 更新  D5 输出  D6 异常  D7 时序  D8 Cross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18320" y="85222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D9 Power  ·  D10 DFT  ·  D11 Security  ·  D12 Perf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18320" y="8869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非功能维度占比须在 15% ~ 35%（质检 #21）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9738360"/>
            <a:ext cx="1700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QUALITY CHECKS  =  6 critical (fail → restart)  +  15 supplementary  +  4 ICVS-1.1 new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CD515B0E-17B8-FD1C-1AD6-0970DC520F78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PATH ② · ISA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路径 ② · isa-coverage-mapper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Dual-source ISA table.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 + Spec 双源自动提取。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  ·  触发条件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17007840" cy="218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module 含 decode / idecode / rv_dec / fp_alu / issue / dispatch / rename — 或任何需要 ISA encoding 覆盖的模块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6035040"/>
            <a:ext cx="4023360" cy="237744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6035040"/>
            <a:ext cx="402336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6263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6583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CLASSIFIER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70866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 相关性分类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7498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 / Partial / NotISA  ·  4 源加权投票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6766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37760" y="6035040"/>
            <a:ext cx="4023360" cy="237744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37760" y="6035040"/>
            <a:ext cx="402336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6360" y="6263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FF9F0A"/>
                </a:solidFill>
                <a:latin typeface="JetBrains Mono" pitchFamily="34" charset="0"/>
                <a:ea typeface="JetBrains Mono" pitchFamily="34" charset="-122"/>
              </a:rPr>
              <a:t>PHASE 1</a:t>
            </a:r>
          </a:p>
        </p:txBody>
      </p:sp>
      <p:sp>
        <p:nvSpPr>
          <p:cNvPr id="19" name="Text 17"/>
          <p:cNvSpPr/>
          <p:nvPr/>
        </p:nvSpPr>
        <p:spPr>
          <a:xfrm>
            <a:off x="5166360" y="6583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DUAL EXTRACT</a:t>
            </a:r>
          </a:p>
        </p:txBody>
      </p:sp>
      <p:sp>
        <p:nvSpPr>
          <p:cNvPr id="20" name="Text 18"/>
          <p:cNvSpPr/>
          <p:nvPr/>
        </p:nvSpPr>
        <p:spPr>
          <a:xfrm>
            <a:off x="5166360" y="70866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双源并行抽取</a:t>
            </a:r>
          </a:p>
        </p:txBody>
      </p:sp>
      <p:sp>
        <p:nvSpPr>
          <p:cNvPr id="21" name="Text 19"/>
          <p:cNvSpPr/>
          <p:nvPr/>
        </p:nvSpPr>
        <p:spPr>
          <a:xfrm>
            <a:off x="5166360" y="7498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 Agent ‖ Spec Agent 同时出发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15400" y="6766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35440" y="6035040"/>
            <a:ext cx="4023360" cy="237744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235440" y="6035040"/>
            <a:ext cx="402336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64040" y="6263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FF9F0A"/>
                </a:solidFill>
                <a:latin typeface="JetBrains Mono" pitchFamily="34" charset="0"/>
                <a:ea typeface="JetBrains Mono" pitchFamily="34" charset="-122"/>
              </a:rPr>
              <a:t>PHASE 2</a:t>
            </a:r>
          </a:p>
        </p:txBody>
      </p:sp>
      <p:sp>
        <p:nvSpPr>
          <p:cNvPr id="26" name="Text 24"/>
          <p:cNvSpPr/>
          <p:nvPr/>
        </p:nvSpPr>
        <p:spPr>
          <a:xfrm>
            <a:off x="9464040" y="6583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CROSS-VALIDATE</a:t>
            </a:r>
          </a:p>
        </p:txBody>
      </p:sp>
      <p:sp>
        <p:nvSpPr>
          <p:cNvPr id="27" name="Text 25"/>
          <p:cNvSpPr/>
          <p:nvPr/>
        </p:nvSpPr>
        <p:spPr>
          <a:xfrm>
            <a:off x="9464040" y="70866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交叉验证</a:t>
            </a:r>
          </a:p>
        </p:txBody>
      </p:sp>
      <p:sp>
        <p:nvSpPr>
          <p:cNvPr id="28" name="Text 26"/>
          <p:cNvSpPr/>
          <p:nvPr/>
        </p:nvSpPr>
        <p:spPr>
          <a:xfrm>
            <a:off x="9464040" y="7498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T1~T8 冲突分类  ·  R1~R6 仲裁规则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213080" y="6766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3533120" y="6035040"/>
            <a:ext cx="4023360" cy="2377440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3533120" y="6035040"/>
            <a:ext cx="402336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761720" y="6263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FF9F0A"/>
                </a:solidFill>
                <a:latin typeface="JetBrains Mono" pitchFamily="34" charset="0"/>
                <a:ea typeface="JetBrains Mono" pitchFamily="34" charset="-122"/>
              </a:rPr>
              <a:t>PHASE 4</a:t>
            </a:r>
          </a:p>
        </p:txBody>
      </p:sp>
      <p:sp>
        <p:nvSpPr>
          <p:cNvPr id="33" name="Text 31"/>
          <p:cNvSpPr/>
          <p:nvPr/>
        </p:nvSpPr>
        <p:spPr>
          <a:xfrm>
            <a:off x="13761720" y="6583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FOUR-IN-ONE COV</a:t>
            </a:r>
          </a:p>
        </p:txBody>
      </p:sp>
      <p:sp>
        <p:nvSpPr>
          <p:cNvPr id="34" name="Text 32"/>
          <p:cNvSpPr/>
          <p:nvPr/>
        </p:nvSpPr>
        <p:spPr>
          <a:xfrm>
            <a:off x="13761720" y="70866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四合一覆盖率</a:t>
            </a:r>
          </a:p>
        </p:txBody>
      </p:sp>
      <p:sp>
        <p:nvSpPr>
          <p:cNvPr id="35" name="Text 33"/>
          <p:cNvSpPr/>
          <p:nvPr/>
        </p:nvSpPr>
        <p:spPr>
          <a:xfrm>
            <a:off x="13761720" y="7498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4a 测点 · 4b 覆盖组 · 4c 追溯 · 4d 质检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0080" y="868680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  ·  四个交付物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" y="9070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testpoints_isa.json / .xlsx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37760" y="9070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fcov_isa.sv  (standalone + UVM)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235440" y="9070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conflict_report.md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533120" y="9070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traceability_matrix.csv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086955C2-74BE-516E-87AA-D4C76C58C58D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PATH ② · ALIGN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路径 ② · enc_id 对齐 + 23 字段建模 + T1~T8 仲裁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One id, two agents.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 enc_id，两个 Agent 独立提取。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ENC_ID DUAL-SOURCE ALIGNMENT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8412480" cy="594360"/>
          </a:xfrm>
          <a:prstGeom prst="rect">
            <a:avLst/>
          </a:prstGeom>
          <a:solidFill>
            <a:srgbClr val="001020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enc_id  =  SHA256( canonical_encoding_template )[:6]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6035040"/>
            <a:ext cx="402336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RTL  Agent 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492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 case / casez / ROM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独立生成 enc_id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6035040"/>
            <a:ext cx="402336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12080" y="6126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SPEC  Agent 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0" y="6492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 PDF 编码表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独立生成 enc_id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7086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   相同算法 → enc_id 一致 → Phase 2 精确 join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75895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CANONICAL ISA ENTRY  ·  23 FIELDS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7955280"/>
            <a:ext cx="8412480" cy="1691640"/>
          </a:xfrm>
          <a:prstGeom prst="rect">
            <a:avLst/>
          </a:prstGeom>
          <a:solidFill>
            <a:srgbClr val="0A0A0A"/>
          </a:solidFill>
          <a:ln w="9525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8028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BASE FIELDS  ·  必填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83027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enc_id · mnem · isa_family · category · encoding_template · variable_fields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85587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rtl_decode_signal ⇠ Agent A   ·   behavior_summary · spec_section ⇠ Agent 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89062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SUPPLEMENTARY  ·  补充字段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91805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implicit_operands · special_reg(ZR/SP) · imm_range · privilege_level · hint_flag …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94366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故意留空字段 → 两 Agent 互不污染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92640" y="4937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T1~T8 CONFLICTS  ·  Phase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92640" y="53492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29800" y="5385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   encoding_template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801600" y="53858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3898880" y="53492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4036040" y="5385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  field_definition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007840" y="53858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92640" y="58064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29800" y="5843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   operand_type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801600" y="58430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3898880" y="58064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036040" y="5843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   behavior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7007840" y="58430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92640" y="62636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29800" y="6300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T5   dependency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801600" y="6300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3898880" y="62636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4036040" y="6300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T6   hint_attribute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7007840" y="6300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692640" y="67208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829800" y="6757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T7   alias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2801600" y="6757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3898880" y="6720840"/>
            <a:ext cx="402336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4036040" y="6757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T8   unallocated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7007840" y="6757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minor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92640" y="7269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R1~R6 ARBITRATION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92640" y="75620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R3 编码冲突 → 信 RTL    ·    R4 行为冲突 → 信 Spec    ·    R5 矛盾 → 升级用户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92640" y="8001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4a · 21 SCENARIO CODES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92640" y="8366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S1~S9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835640" y="8366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161520" y="8366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Normal · 特殊寄存器 · 立即数边界 · 特权级 · 非法编码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692640" y="8686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F1~F5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835640" y="8686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 浮点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2161520" y="8686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舍入模式 · NaN · 无穷 · 非规格化数 · 异常标志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692640" y="9006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M1~M4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835640" y="9006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 内存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2161520" y="9006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 · 页跨越 · 原子类型 · 内存顺序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692640" y="9326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B1~B3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835640" y="9326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2161520" y="9326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跳转/不跳 · BPU 预测 · 间接跳转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0">
            <a:extLst>
              <a:ext uri="{FF2B5EF4-FFF2-40B4-BE49-F238E27FC236}">
                <a16:creationId xmlns:a16="http://schemas.microsoft.com/office/drawing/2014/main" id="{8A6C4DE8-BEE5-65F8-92D4-94560F0B260A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STAGE 2 · BUILD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步骤 2 · UVM 环境生成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Auto-wrapper for the big ones.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大模块也能自动封装。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5650992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uvm-env-gen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6126480"/>
            <a:ext cx="17007840" cy="45719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6-PHASE 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6647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 分析 → 架构设计 → 代码 → 编译 → RM → 文档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99516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AUTO AGENT GROUPING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7287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按端口前缀 / 协议自动归组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763524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RM PATTERNS</a:t>
            </a:r>
          </a:p>
        </p:txBody>
      </p:sp>
      <p:sp>
        <p:nvSpPr>
          <p:cNvPr id="15" name="Text 13"/>
          <p:cNvSpPr/>
          <p:nvPr/>
        </p:nvSpPr>
        <p:spPr>
          <a:xfrm>
            <a:off x="640080" y="7927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behavioral / table-based / hybrid，含 skip-flag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827532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AUTO COMPILE FIX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" y="8567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max 10 轮自动 fix，VCS 编译就绪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" y="891540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FCOV GENERATION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9208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传 testpoints.json 自动生成 fcov.sv</a:t>
            </a:r>
          </a:p>
        </p:txBody>
      </p:sp>
      <p:sp>
        <p:nvSpPr>
          <p:cNvPr id="20" name="Text 18"/>
          <p:cNvSpPr/>
          <p:nvPr/>
        </p:nvSpPr>
        <p:spPr>
          <a:xfrm>
            <a:off x="941832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8320" y="5650992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uvm-env-gen 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18320" y="6126479"/>
            <a:ext cx="8229600" cy="45719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635508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AUTO-WRAPPER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6647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≥ 5 子模块或 &gt; 100 端口 → gen_wrapper.py 自动生成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18320" y="699516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RTL MACRO TRACE</a:t>
            </a:r>
          </a:p>
        </p:txBody>
      </p:sp>
      <p:sp>
        <p:nvSpPr>
          <p:cNvPr id="26" name="Text 24"/>
          <p:cNvSpPr/>
          <p:nvPr/>
        </p:nvSpPr>
        <p:spPr>
          <a:xfrm>
            <a:off x="9418320" y="7287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Phase 1 自动 trace `define 链，字面整数写入 SV</a:t>
            </a:r>
          </a:p>
        </p:txBody>
      </p:sp>
      <p:sp>
        <p:nvSpPr>
          <p:cNvPr id="27" name="Text 25"/>
          <p:cNvSpPr/>
          <p:nvPr/>
        </p:nvSpPr>
        <p:spPr>
          <a:xfrm>
            <a:off x="9418320" y="763524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SUBSYSTEM UT</a:t>
            </a:r>
          </a:p>
        </p:txBody>
      </p:sp>
      <p:sp>
        <p:nvSpPr>
          <p:cNvPr id="28" name="Text 26"/>
          <p:cNvSpPr/>
          <p:nvPr/>
        </p:nvSpPr>
        <p:spPr>
          <a:xfrm>
            <a:off x="9418320" y="7927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无 parent module 场景强制 v2 wrapper，纯子系统验证</a:t>
            </a:r>
          </a:p>
        </p:txBody>
      </p:sp>
      <p:sp>
        <p:nvSpPr>
          <p:cNvPr id="29" name="Text 27"/>
          <p:cNvSpPr/>
          <p:nvPr/>
        </p:nvSpPr>
        <p:spPr>
          <a:xfrm>
            <a:off x="9418320" y="827532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8-DIM EVALUATION</a:t>
            </a:r>
          </a:p>
        </p:txBody>
      </p:sp>
      <p:sp>
        <p:nvSpPr>
          <p:cNvPr id="30" name="Text 28"/>
          <p:cNvSpPr/>
          <p:nvPr/>
        </p:nvSpPr>
        <p:spPr>
          <a:xfrm>
            <a:off x="9418320" y="8567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Phase 2 评接口清晰度 / FSM / 时钟域 → 适宜度评分</a:t>
            </a:r>
          </a:p>
        </p:txBody>
      </p:sp>
      <p:sp>
        <p:nvSpPr>
          <p:cNvPr id="31" name="Text 29"/>
          <p:cNvSpPr/>
          <p:nvPr/>
        </p:nvSpPr>
        <p:spPr>
          <a:xfrm>
            <a:off x="9418320" y="8915400"/>
            <a:ext cx="822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FCOV_ISA INTEGRATE</a:t>
            </a:r>
          </a:p>
        </p:txBody>
      </p:sp>
      <p:sp>
        <p:nvSpPr>
          <p:cNvPr id="32" name="Text 30"/>
          <p:cNvSpPr/>
          <p:nvPr/>
        </p:nvSpPr>
        <p:spPr>
          <a:xfrm>
            <a:off x="9418320" y="9208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5F5F7"/>
                </a:solidFill>
                <a:latin typeface="PingFang SC" pitchFamily="34" charset="0"/>
                <a:ea typeface="PingFang SC" pitchFamily="34" charset="-122"/>
              </a:rPr>
              <a:t>可选接入 isa-coverage-mapper 输出的 fcov_isa.sv</a:t>
            </a:r>
          </a:p>
        </p:txBody>
      </p:sp>
      <p:sp>
        <p:nvSpPr>
          <p:cNvPr id="33" name="Text 31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3F817491-D5C8-898B-F87F-0B710B97459A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STAGE 2 · INTERNALS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步骤 2 · 6-Phase 流水线 + 14 条经验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Lessons baked in.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踩过的坑，下次不用再踩。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799" y="502920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RTL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799" y="539496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宏递归展开 · wrapper 触发判断 · clk/FSM 识别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28799" y="580644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ARCH DESIGN  ★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28799" y="617220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端口分组 6 步 → agent → RM → fcov  ·  用户确认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658368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Ph 3</a:t>
            </a:r>
          </a:p>
        </p:txBody>
      </p:sp>
      <p:sp>
        <p:nvSpPr>
          <p:cNvPr id="14" name="Text 12"/>
          <p:cNvSpPr/>
          <p:nvPr/>
        </p:nvSpPr>
        <p:spPr>
          <a:xfrm>
            <a:off x="1828799" y="658368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</a:rPr>
              <a:t>WRAPPER  (on demand)</a:t>
            </a:r>
          </a:p>
        </p:txBody>
      </p:sp>
      <p:sp>
        <p:nvSpPr>
          <p:cNvPr id="15" name="Text 13"/>
          <p:cNvSpPr/>
          <p:nvPr/>
        </p:nvSpPr>
        <p:spPr>
          <a:xfrm>
            <a:off x="1828799" y="694944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≥ 5 子模块或 &gt; 100 端口触发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736092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Ph 4</a:t>
            </a:r>
          </a:p>
        </p:txBody>
      </p:sp>
      <p:sp>
        <p:nvSpPr>
          <p:cNvPr id="17" name="Text 15"/>
          <p:cNvSpPr/>
          <p:nvPr/>
        </p:nvSpPr>
        <p:spPr>
          <a:xfrm>
            <a:off x="1828799" y="736092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CODEGEN  ★★</a:t>
            </a:r>
          </a:p>
        </p:txBody>
      </p:sp>
      <p:sp>
        <p:nvSpPr>
          <p:cNvPr id="18" name="Text 16"/>
          <p:cNvSpPr/>
          <p:nvPr/>
        </p:nvSpPr>
        <p:spPr>
          <a:xfrm>
            <a:off x="1828799" y="772668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/ env / tb / tc / common  ·  5 并行 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813816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Ph 5</a:t>
            </a:r>
          </a:p>
        </p:txBody>
      </p:sp>
      <p:sp>
        <p:nvSpPr>
          <p:cNvPr id="20" name="Text 18"/>
          <p:cNvSpPr/>
          <p:nvPr/>
        </p:nvSpPr>
        <p:spPr>
          <a:xfrm>
            <a:off x="1828799" y="813816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</a:rPr>
              <a:t>COMPILE LOOP</a:t>
            </a:r>
          </a:p>
        </p:txBody>
      </p:sp>
      <p:sp>
        <p:nvSpPr>
          <p:cNvPr id="21" name="Text 19"/>
          <p:cNvSpPr/>
          <p:nvPr/>
        </p:nvSpPr>
        <p:spPr>
          <a:xfrm>
            <a:off x="1828799" y="850392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轮迭代 · 14 种错误 pattern 自动修复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8915400"/>
            <a:ext cx="11222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Ph 6</a:t>
            </a:r>
          </a:p>
        </p:txBody>
      </p:sp>
      <p:sp>
        <p:nvSpPr>
          <p:cNvPr id="23" name="Text 21"/>
          <p:cNvSpPr/>
          <p:nvPr/>
        </p:nvSpPr>
        <p:spPr>
          <a:xfrm>
            <a:off x="1828799" y="8915400"/>
            <a:ext cx="6733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</a:rPr>
              <a:t>RM REFINE LOOP</a:t>
            </a:r>
          </a:p>
        </p:txBody>
      </p:sp>
      <p:sp>
        <p:nvSpPr>
          <p:cNvPr id="24" name="Text 22"/>
          <p:cNvSpPr/>
          <p:nvPr/>
        </p:nvSpPr>
        <p:spPr>
          <a:xfrm>
            <a:off x="1828799" y="9281160"/>
            <a:ext cx="673330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tc_random + SCB enabled 通过为止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18320" y="5029200"/>
            <a:ext cx="84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4 · FIVE PARALLEL AGENTS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18320" y="5440680"/>
            <a:ext cx="8416636" cy="36576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199" y="5477256"/>
            <a:ext cx="1496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Agent-A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109959" y="5477256"/>
            <a:ext cx="2805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ALL UVM AGENTS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898879" y="5477256"/>
            <a:ext cx="374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cfg / xaction / sqr / drv / mon / cov / if / pkg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418320" y="5943600"/>
            <a:ext cx="841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6E6E73"/>
              </a:solidFill>
              <a:effectLst/>
              <a:uLnTx/>
              <a:uFillTx/>
              <a:latin typeface="JetBrains Mono" pitchFamily="34" charset="0"/>
              <a:ea typeface="JetBrains Mono" pitchFamily="34" charset="-122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199" y="5980176"/>
            <a:ext cx="1496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Agent-B</a:t>
            </a:r>
          </a:p>
        </p:txBody>
      </p:sp>
      <p:sp>
        <p:nvSpPr>
          <p:cNvPr id="32" name="Text 30"/>
          <p:cNvSpPr/>
          <p:nvPr/>
        </p:nvSpPr>
        <p:spPr>
          <a:xfrm>
            <a:off x="11109959" y="5980176"/>
            <a:ext cx="2805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ENV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898879" y="5980176"/>
            <a:ext cx="374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cfg / rm / scb / vseqr / virtual_seq / env_pkg</a:t>
            </a:r>
          </a:p>
        </p:txBody>
      </p:sp>
      <p:sp>
        <p:nvSpPr>
          <p:cNvPr id="34" name="Shape 32"/>
          <p:cNvSpPr/>
          <p:nvPr/>
        </p:nvSpPr>
        <p:spPr>
          <a:xfrm>
            <a:off x="9418320" y="6446520"/>
            <a:ext cx="8416636" cy="36576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01199" y="6483096"/>
            <a:ext cx="1496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Agent-C</a:t>
            </a:r>
          </a:p>
        </p:txBody>
      </p:sp>
      <p:sp>
        <p:nvSpPr>
          <p:cNvPr id="36" name="Text 34"/>
          <p:cNvSpPr/>
          <p:nvPr/>
        </p:nvSpPr>
        <p:spPr>
          <a:xfrm>
            <a:off x="11109959" y="6483096"/>
            <a:ext cx="2805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TB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898879" y="6483096"/>
            <a:ext cx="374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top_tb / dut_inst / connect / clk_rst_if</a:t>
            </a:r>
          </a:p>
        </p:txBody>
      </p:sp>
      <p:sp>
        <p:nvSpPr>
          <p:cNvPr id="38" name="Shape 36"/>
          <p:cNvSpPr/>
          <p:nvPr/>
        </p:nvSpPr>
        <p:spPr>
          <a:xfrm>
            <a:off x="9418320" y="6949440"/>
            <a:ext cx="8416636" cy="36576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01199" y="6986016"/>
            <a:ext cx="1496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Agent-D</a:t>
            </a:r>
          </a:p>
        </p:txBody>
      </p:sp>
      <p:sp>
        <p:nvSpPr>
          <p:cNvPr id="40" name="Text 38"/>
          <p:cNvSpPr/>
          <p:nvPr/>
        </p:nvSpPr>
        <p:spPr>
          <a:xfrm>
            <a:off x="11109959" y="6986016"/>
            <a:ext cx="2805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TC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3898879" y="6986016"/>
            <a:ext cx="374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base / sanity / random / debug / corner / error</a:t>
            </a:r>
          </a:p>
        </p:txBody>
      </p:sp>
      <p:sp>
        <p:nvSpPr>
          <p:cNvPr id="42" name="Shape 40"/>
          <p:cNvSpPr/>
          <p:nvPr/>
        </p:nvSpPr>
        <p:spPr>
          <a:xfrm>
            <a:off x="9418320" y="7452360"/>
            <a:ext cx="841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b="1">
              <a:solidFill>
                <a:srgbClr val="30D158"/>
              </a:solidFill>
              <a:latin typeface="JetBrains Mono" pitchFamily="34" charset="0"/>
              <a:ea typeface="JetBrains Mono" pitchFamily="34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01199" y="7488936"/>
            <a:ext cx="1496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0D158"/>
                </a:solidFill>
                <a:latin typeface="JetBrains Mono" pitchFamily="34" charset="0"/>
                <a:ea typeface="JetBrains Mono" pitchFamily="34" charset="-122"/>
              </a:rPr>
              <a:t>Agent-E</a:t>
            </a:r>
          </a:p>
        </p:txBody>
      </p:sp>
      <p:sp>
        <p:nvSpPr>
          <p:cNvPr id="44" name="Text 42"/>
          <p:cNvSpPr/>
          <p:nvPr/>
        </p:nvSpPr>
        <p:spPr>
          <a:xfrm>
            <a:off x="11109959" y="7488936"/>
            <a:ext cx="2805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COMMON + SIM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3898879" y="7488936"/>
            <a:ext cx="374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+mn-cs"/>
              </a:rPr>
              <a:t>xaction / fcov / filelist / Makefile / regress.py</a:t>
            </a:r>
          </a:p>
        </p:txBody>
      </p:sp>
      <p:sp>
        <p:nvSpPr>
          <p:cNvPr id="46" name="Text 44"/>
          <p:cNvSpPr/>
          <p:nvPr/>
        </p:nvSpPr>
        <p:spPr>
          <a:xfrm>
            <a:off x="9418320" y="8092440"/>
            <a:ext cx="84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HARD RULES  ·  </a:t>
            </a:r>
            <a:r>
              <a:rPr kumimoji="0" lang="en-US" sz="1400" b="1" i="0" u="none" strike="noStrike" kern="0" cap="none" spc="400" normalizeH="0" baseline="0" noProof="0" dirty="0" err="1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来自</a:t>
            </a: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kumimoji="0" lang="en-US" sz="1400" b="1" i="0" u="none" strike="noStrike" kern="0" cap="none" spc="400" normalizeH="0" baseline="0" noProof="0" dirty="0" err="1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踩坑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418320" y="8458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R1  Interface 硬编码宽度，禁用 RTL 宏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3533120" y="8458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R2  Sequencer 用 uvm_component_utils</a:t>
            </a:r>
          </a:p>
        </p:txBody>
      </p:sp>
      <p:sp>
        <p:nvSpPr>
          <p:cNvPr id="49" name="Text 47"/>
          <p:cNvSpPr/>
          <p:nvPr/>
        </p:nvSpPr>
        <p:spPr>
          <a:xfrm>
            <a:off x="9418320" y="8842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R4  SCB 用 $isunknown() 选择性比较</a:t>
            </a:r>
          </a:p>
        </p:txBody>
      </p:sp>
      <p:sp>
        <p:nvSpPr>
          <p:cNvPr id="50" name="Text 48"/>
          <p:cNvSpPr/>
          <p:nvPr/>
        </p:nvSpPr>
        <p:spPr>
          <a:xfrm>
            <a:off x="13533120" y="8842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R5  RM 内置 3 个 skip flag</a:t>
            </a:r>
          </a:p>
        </p:txBody>
      </p:sp>
      <p:sp>
        <p:nvSpPr>
          <p:cNvPr id="51" name="Text 49"/>
          <p:cNvSpPr/>
          <p:nvPr/>
        </p:nvSpPr>
        <p:spPr>
          <a:xfrm>
            <a:off x="9418320" y="9226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R8  tc_sanity 关 SCB · tc_random 开 SCB</a:t>
            </a:r>
          </a:p>
        </p:txBody>
      </p:sp>
      <p:sp>
        <p:nvSpPr>
          <p:cNvPr id="52" name="Text 50"/>
          <p:cNvSpPr/>
          <p:nvPr/>
        </p:nvSpPr>
        <p:spPr>
          <a:xfrm>
            <a:off x="13533120" y="9226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R13 Makefile 带 -cm line+cond+fsm+tgl+branch</a:t>
            </a:r>
          </a:p>
        </p:txBody>
      </p:sp>
      <p:sp>
        <p:nvSpPr>
          <p:cNvPr id="53" name="Text 51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6D0C10B8-D04C-5D52-EF70-5514B07A54BA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DESTINATION · SIGNOFF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终点 · verif-signoff-driver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Six stages, five checkpoints.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六阶段，五个人工检查点。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① 与 路径 ② 在此汇聚 · 同一个 skill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26060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5486400"/>
            <a:ext cx="260604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compile + smoke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7178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⚑  人工检查点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47288" y="5486400"/>
            <a:ext cx="26060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47288" y="5486400"/>
            <a:ext cx="260604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4448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84448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REFMODEL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cosim diff</a:t>
            </a:r>
          </a:p>
        </p:txBody>
      </p:sp>
      <p:sp>
        <p:nvSpPr>
          <p:cNvPr id="19" name="Text 17"/>
          <p:cNvSpPr/>
          <p:nvPr/>
        </p:nvSpPr>
        <p:spPr>
          <a:xfrm>
            <a:off x="3584448" y="7178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⚑  人工检查点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54496" y="5486400"/>
            <a:ext cx="2606040" cy="2194560"/>
          </a:xfrm>
          <a:prstGeom prst="rect">
            <a:avLst/>
          </a:prstGeom>
          <a:solidFill>
            <a:srgbClr val="0A0A0A"/>
          </a:solidFill>
          <a:ln w="6350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54496" y="5486400"/>
            <a:ext cx="2606040" cy="54864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91656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91656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SEQUENCES</a:t>
            </a:r>
          </a:p>
        </p:txBody>
      </p:sp>
      <p:sp>
        <p:nvSpPr>
          <p:cNvPr id="24" name="Text 22"/>
          <p:cNvSpPr/>
          <p:nvPr/>
        </p:nvSpPr>
        <p:spPr>
          <a:xfrm>
            <a:off x="6391656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约束 + body fill</a:t>
            </a:r>
          </a:p>
        </p:txBody>
      </p:sp>
      <p:sp>
        <p:nvSpPr>
          <p:cNvPr id="25" name="Shape 23"/>
          <p:cNvSpPr/>
          <p:nvPr/>
        </p:nvSpPr>
        <p:spPr>
          <a:xfrm>
            <a:off x="9061704" y="5486400"/>
            <a:ext cx="26060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61704" y="5486400"/>
            <a:ext cx="260604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98864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98864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ASSERTION</a:t>
            </a:r>
          </a:p>
        </p:txBody>
      </p:sp>
      <p:sp>
        <p:nvSpPr>
          <p:cNvPr id="29" name="Text 27"/>
          <p:cNvSpPr/>
          <p:nvPr/>
        </p:nvSpPr>
        <p:spPr>
          <a:xfrm>
            <a:off x="9198864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SVA + formal</a:t>
            </a:r>
          </a:p>
        </p:txBody>
      </p:sp>
      <p:sp>
        <p:nvSpPr>
          <p:cNvPr id="30" name="Text 28"/>
          <p:cNvSpPr/>
          <p:nvPr/>
        </p:nvSpPr>
        <p:spPr>
          <a:xfrm>
            <a:off x="9198864" y="7178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⚑  人工检查点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868912" y="5486400"/>
            <a:ext cx="26060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1868912" y="5486400"/>
            <a:ext cx="260604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006072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006072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REGRESSION</a:t>
            </a:r>
          </a:p>
        </p:txBody>
      </p:sp>
      <p:sp>
        <p:nvSpPr>
          <p:cNvPr id="35" name="Text 33"/>
          <p:cNvSpPr/>
          <p:nvPr/>
        </p:nvSpPr>
        <p:spPr>
          <a:xfrm>
            <a:off x="12006072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功能 100% · 代码 ≥95%</a:t>
            </a:r>
          </a:p>
        </p:txBody>
      </p:sp>
      <p:sp>
        <p:nvSpPr>
          <p:cNvPr id="36" name="Text 34"/>
          <p:cNvSpPr/>
          <p:nvPr/>
        </p:nvSpPr>
        <p:spPr>
          <a:xfrm>
            <a:off x="12006072" y="7178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⚑  人工检查点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4676120" y="5486400"/>
            <a:ext cx="26060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4676120" y="5486400"/>
            <a:ext cx="260604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813280" y="5669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4813280" y="6035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</a:rPr>
              <a:t>SIGN-OFF</a:t>
            </a:r>
          </a:p>
        </p:txBody>
      </p:sp>
      <p:sp>
        <p:nvSpPr>
          <p:cNvPr id="41" name="Text 39"/>
          <p:cNvSpPr/>
          <p:nvPr/>
        </p:nvSpPr>
        <p:spPr>
          <a:xfrm>
            <a:off x="14813280" y="6537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218 项 checklist</a:t>
            </a:r>
          </a:p>
        </p:txBody>
      </p:sp>
      <p:sp>
        <p:nvSpPr>
          <p:cNvPr id="42" name="Text 40"/>
          <p:cNvSpPr/>
          <p:nvPr/>
        </p:nvSpPr>
        <p:spPr>
          <a:xfrm>
            <a:off x="14813280" y="7178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⚑  人工检查点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800100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ITLB 实测  ·  2026-04-0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04-12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0080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 COV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0080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793492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 COV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793492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99.86%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946904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46904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99.74%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100316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100316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92.86%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53728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TC PASS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253728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407140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BUGS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407140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3560552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3560552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1000+ seed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5713964" y="8458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TIME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5713964" y="8778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.5 days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0">
            <a:extLst>
              <a:ext uri="{FF2B5EF4-FFF2-40B4-BE49-F238E27FC236}">
                <a16:creationId xmlns:a16="http://schemas.microsoft.com/office/drawing/2014/main" id="{513C5BE4-4978-E302-D221-C3963E5AA416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DESTINATION · STAGE E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终点 · Stage E 核心：覆盖率闭合循环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Classify, then close.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分类，然后收敛</a:t>
            </a:r>
            <a:r>
              <a:rPr kumimoji="0" lang="en-US" sz="22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64822"/>
            <a:ext cx="17007840" cy="457200"/>
          </a:xfrm>
          <a:prstGeom prst="rect">
            <a:avLst/>
          </a:prstGeom>
          <a:solidFill>
            <a:srgbClr val="0A0A0A"/>
          </a:solidFill>
          <a:ln w="635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配置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61488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+mn-cs"/>
              </a:rPr>
              <a:t>E2 触发  →</a:t>
            </a:r>
          </a:p>
        </p:txBody>
      </p:sp>
      <p:sp>
        <p:nvSpPr>
          <p:cNvPr id="10" name="Text 8"/>
          <p:cNvSpPr/>
          <p:nvPr/>
        </p:nvSpPr>
        <p:spPr>
          <a:xfrm>
            <a:off x="4882896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解析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04304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E4 更新DB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25712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E5 失败分类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0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E6 漏洞分析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368528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E7 距离指标  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489936" y="476482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E8 收敛判断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545062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40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E5  REGRESSION FAILURES  ·  5 类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5995284"/>
            <a:ext cx="841248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5995284"/>
            <a:ext cx="54864" cy="640080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60501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dut_bug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26480" y="60501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63610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DUT 违反 spec → bugs.jsonl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6708516"/>
            <a:ext cx="841248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6708516"/>
            <a:ext cx="54864" cy="64008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67633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tb_bug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67633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70742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tb 代码有误 → agent-tb-fixer 自动补丁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7421748"/>
            <a:ext cx="841248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7421748"/>
            <a:ext cx="54864" cy="64008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74766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seq_bug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26480" y="74766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77875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sequence 生成非法激励 → 修 constraint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8134980"/>
            <a:ext cx="841248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" y="8134980"/>
            <a:ext cx="54864" cy="640080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" y="81898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refmodel_bug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26480" y="81898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75F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🔴 最严重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2960" y="85007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 逻辑有误 → 升级回 Stage B 重新校准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8848212"/>
            <a:ext cx="841248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" y="8848212"/>
            <a:ext cx="54864" cy="640080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" y="89030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flaky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26480" y="89030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2960" y="92139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随机重现 → 标记 + 多次验证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418320" y="545062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E6  COVERAGE GAPS  ·  5 类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418320" y="5995284"/>
            <a:ext cx="822960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418320" y="5995284"/>
            <a:ext cx="54864" cy="640080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01200" y="60501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unreachable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01200" y="63610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逻辑不可能命中 → 起草豁免（含证明）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418320" y="6708516"/>
            <a:ext cx="822960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418320" y="6708516"/>
            <a:ext cx="54864" cy="640080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01200" y="67633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4D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missing_stimulus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01200" y="70742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可达但缺激励 → 新增 sequence（回 Stage C）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418320" y="7421748"/>
            <a:ext cx="822960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418320" y="7421748"/>
            <a:ext cx="54864" cy="64008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01200" y="74766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illegal_bin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01200" y="77875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Bin 定义本身有问题 → 修改 fcov.sv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418320" y="8134980"/>
            <a:ext cx="822960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418320" y="8134980"/>
            <a:ext cx="54864" cy="640080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601200" y="81898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flaky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601200" y="85007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命中数波动大 → 调采样 · 增加种子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418320" y="8848212"/>
            <a:ext cx="8229600" cy="640080"/>
          </a:xfrm>
          <a:prstGeom prst="rect">
            <a:avLst/>
          </a:prstGeom>
          <a:solidFill>
            <a:srgbClr val="0A0A0A"/>
          </a:solidFill>
          <a:ln w="635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418320" y="8848212"/>
            <a:ext cx="54864" cy="64008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601200" y="89030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genuinely_hard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601200" y="92139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理论可达但概率极低 → 升级 · 专项 seed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0080" y="9646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SIGNOFF CRITERIA  ·  默认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40080" y="9921240"/>
            <a:ext cx="1700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100%  ·  Line ≥ 95%  ·  Branch ≥ 90%  ·  ≥ 1000 seed  ·  连续 3 轮 clean  ·  0 critical/high bug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0">
            <a:extLst>
              <a:ext uri="{FF2B5EF4-FFF2-40B4-BE49-F238E27FC236}">
                <a16:creationId xmlns:a16="http://schemas.microsoft.com/office/drawing/2014/main" id="{6354F349-7863-66D0-DC8B-A032B7ED03C2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PHILOSOPHY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理念 · 人的角色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Five judgments.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五个判断，其余全自动</a:t>
            </a:r>
            <a:r>
              <a:rPr kumimoji="0" lang="en-US" sz="22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05385" y="2569464"/>
            <a:ext cx="1700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rest auto-runs.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640080" cy="71323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5166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· tp-gen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0" y="51663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MODULE UNDERSTANDING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0" y="5504688"/>
            <a:ext cx="1207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读 RTL+Spec 综合后，人确认理解准不准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640080" cy="71323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60350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Stage B · signoff</a:t>
            </a:r>
          </a:p>
        </p:txBody>
      </p:sp>
      <p:sp>
        <p:nvSpPr>
          <p:cNvPr id="16" name="Text 14"/>
          <p:cNvSpPr/>
          <p:nvPr/>
        </p:nvSpPr>
        <p:spPr>
          <a:xfrm>
            <a:off x="5669280" y="60350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RM SEMANTIC REVIEW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0" y="6373368"/>
            <a:ext cx="1207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Reference Model 建模策略与 skip-flag 是否合理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6858000"/>
            <a:ext cx="640080" cy="71323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8580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63040" y="69037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Stage D · signoff</a:t>
            </a:r>
          </a:p>
        </p:txBody>
      </p:sp>
      <p:sp>
        <p:nvSpPr>
          <p:cNvPr id="21" name="Text 19"/>
          <p:cNvSpPr/>
          <p:nvPr/>
        </p:nvSpPr>
        <p:spPr>
          <a:xfrm>
            <a:off x="5669280" y="69037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ASSERTION SET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0" y="7242048"/>
            <a:ext cx="1207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 SVA 方向对吗，有无明显遗漏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" y="7726680"/>
            <a:ext cx="640080" cy="71323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77266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63040" y="7772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Stage E · signoff</a:t>
            </a:r>
          </a:p>
        </p:txBody>
      </p:sp>
      <p:sp>
        <p:nvSpPr>
          <p:cNvPr id="26" name="Text 24"/>
          <p:cNvSpPr/>
          <p:nvPr/>
        </p:nvSpPr>
        <p:spPr>
          <a:xfrm>
            <a:off x="5669280" y="77724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WAIVER REASONABILITY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0" y="8110728"/>
            <a:ext cx="1207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覆盖率 waiver 条目，逐条说明理由是否充分</a:t>
            </a:r>
          </a:p>
        </p:txBody>
      </p:sp>
      <p:sp>
        <p:nvSpPr>
          <p:cNvPr id="28" name="Shape 26"/>
          <p:cNvSpPr/>
          <p:nvPr/>
        </p:nvSpPr>
        <p:spPr>
          <a:xfrm>
            <a:off x="640080" y="8595360"/>
            <a:ext cx="640080" cy="71323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85953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463040" y="8641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</a:rPr>
              <a:t>Stage F · signoff</a:t>
            </a:r>
          </a:p>
        </p:txBody>
      </p:sp>
      <p:sp>
        <p:nvSpPr>
          <p:cNvPr id="31" name="Text 29"/>
          <p:cNvSpPr/>
          <p:nvPr/>
        </p:nvSpPr>
        <p:spPr>
          <a:xfrm>
            <a:off x="5669280" y="86410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FINAL SIGN-OFF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69280" y="8979408"/>
            <a:ext cx="1207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</a:rPr>
              <a:t>6 份文档 · 218 条 checklist 审阅后亲笔签收</a:t>
            </a:r>
          </a:p>
        </p:txBody>
      </p:sp>
      <p:sp>
        <p:nvSpPr>
          <p:cNvPr id="33" name="Text 31"/>
          <p:cNvSpPr/>
          <p:nvPr/>
        </p:nvSpPr>
        <p:spPr>
          <a:xfrm>
            <a:off x="640080" y="9646920"/>
            <a:ext cx="1700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全自动：并行读材料 · 分解 testpoint · 生成 UVM · 编译修复 · 驱动 regression · 组装核签文档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080" y="9646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0F60554E-AA71-137E-C981-E2884CA9187D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RESULTS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实测 · 同一套 skill，4 个模块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Same skill, four modules.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 skill，4 个真实模块。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19102"/>
            <a:ext cx="17007840" cy="21946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81054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ITLB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532260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SIGNED OFF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3480" y="481054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ICACHE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83480" y="532260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TP DONE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26880" y="481054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26880" y="532260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SIGNED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670280" y="481054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LSU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670280" y="532260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A-E DONE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724942"/>
            <a:ext cx="17007840" cy="21946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86210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28800" y="586210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72200" y="586210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15600" y="586210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&amp;2700+isa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859000" y="586210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624615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 COV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624615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72200" y="624615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515600" y="624615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96%*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859000" y="624615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" y="663019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28800" y="663019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99.86%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663019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515600" y="663019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96%*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4859000" y="663019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" y="701424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828800" y="701424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99.74%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2200" y="701424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99.25%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515600" y="701424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91%*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859000" y="701424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" y="739829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TC PASS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828800" y="739829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17/17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72200" y="739829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38/38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515600" y="739829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seq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4859000" y="739829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8/8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94360" y="778234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BUGS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8234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72200" y="778234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515600" y="778234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4859000" y="778234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4360" y="816639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SVA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828800" y="816639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172200" y="816639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515600" y="816639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4859000" y="816639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94360" y="855043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828800" y="855043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172200" y="855043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8*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515600" y="855043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4859000" y="855043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893448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828800" y="893448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.5 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172200" y="893448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515600" y="893448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~22h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4859000" y="893448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~23h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40080" y="9628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2026-04-0</a:t>
            </a:r>
            <a:r>
              <a:rPr kumimoji="0" lang="en-US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04-12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326880" y="9628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投影值，regression 待跑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3670280" y="9628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覆盖率待测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6002000" y="9646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94360" y="9875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0">
            <a:extLst>
              <a:ext uri="{FF2B5EF4-FFF2-40B4-BE49-F238E27FC236}">
                <a16:creationId xmlns:a16="http://schemas.microsoft.com/office/drawing/2014/main" id="{2C404447-69C2-B310-C0AF-7068DF587137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3436C092-FA27-106A-972C-CB22E6C4EB95}"/>
              </a:ext>
            </a:extLst>
          </p:cNvPr>
          <p:cNvSpPr/>
          <p:nvPr/>
        </p:nvSpPr>
        <p:spPr>
          <a:xfrm>
            <a:off x="6172200" y="670335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60">
            <a:extLst>
              <a:ext uri="{FF2B5EF4-FFF2-40B4-BE49-F238E27FC236}">
                <a16:creationId xmlns:a16="http://schemas.microsoft.com/office/drawing/2014/main" id="{BB7ADB79-D967-AD53-349F-490706DE9F68}"/>
              </a:ext>
            </a:extLst>
          </p:cNvPr>
          <p:cNvSpPr/>
          <p:nvPr/>
        </p:nvSpPr>
        <p:spPr>
          <a:xfrm>
            <a:off x="4823460" y="9628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2026-04-</a:t>
            </a:r>
            <a:r>
              <a:rPr kumimoji="0" lang="en-US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04-</a:t>
            </a:r>
            <a:r>
              <a:rPr kumimoji="0" lang="en-US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4300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AVAILABLE NOW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700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立即可用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700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Four sentences to start.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</a:rPr>
              <a:t>四句话启动。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4412973"/>
            <a:ext cx="1700784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412973"/>
            <a:ext cx="91440" cy="96012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52270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isa-coverage-mapper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87017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"给 XX 模块做 ISA 覆盖"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091333" y="4687293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decode / ISA 模块首选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5601693"/>
            <a:ext cx="1700784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601693"/>
            <a:ext cx="91440" cy="96012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571142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F5AF2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testpoint-gen v2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605889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"给 XX 模块做测试点分解"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091333" y="5844663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全模块通用 · 支持断点续跑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6790413"/>
            <a:ext cx="1700784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6790413"/>
            <a:ext cx="91440" cy="96012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690014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30D15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uvm-env-gen v2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724761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"给 XX 模块生成 UVM 验证环境"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91333" y="7078449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支持断点续跑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7979133"/>
            <a:ext cx="1700784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7979133"/>
            <a:ext cx="91440" cy="96012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808886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FF9F0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verif-signoff-driver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843633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"把 XX 模块推进到核签"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091333" y="8275951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两条路径共用 · 支持断点续跑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9076413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PREREQUISITES  ·  你需要准备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9369021"/>
            <a:ext cx="1700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6"/>
                </a:solidFill>
                <a:effectLst/>
                <a:uLnTx/>
                <a:uFillTx/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RTL 路径  +  Spec 文档（decode 类额外加 ISA Spec）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002000" y="9727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9800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MUYANG.DEV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CF3D6AB4-5F99-F971-4574-5056425B7809}"/>
              </a:ext>
            </a:extLst>
          </p:cNvPr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r>
              <a:rPr kumimoji="0" lang="zh-CN" alt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r>
              <a:rPr kumimoji="0" lang="en-US" sz="1600" b="0" i="0" u="none" strike="noStrike" kern="0" cap="none" spc="400" normalizeH="0" baseline="0" noProof="0" dirty="0">
                <a:ln>
                  <a:noFill/>
                </a:ln>
                <a:solidFill>
                  <a:srgbClr val="6E6E7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0A84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VERIF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14400"/>
            <a:ext cx="2667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50" y="923925"/>
            <a:ext cx="6488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325291" y="923925"/>
            <a:ext cx="2226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5911364" y="928688"/>
            <a:ext cx="123363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结束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81456" y="2352675"/>
            <a:ext cx="16325088" cy="415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0" kern="0" spc="-72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</a:t>
            </a:r>
            <a:r>
              <a:rPr lang="en-US" sz="18000" kern="0" spc="-720" dirty="0">
                <a:solidFill>
                  <a:srgbClr val="0A8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</a:t>
            </a:r>
            <a:r>
              <a:rPr lang="en-US" sz="18000" kern="0" spc="-72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ou. 感谢。</a:t>
            </a:r>
            <a:endParaRPr lang="en-US" sz="18000" dirty="0"/>
          </a:p>
        </p:txBody>
      </p:sp>
      <p:sp>
        <p:nvSpPr>
          <p:cNvPr id="7" name="Text 4"/>
          <p:cNvSpPr/>
          <p:nvPr/>
        </p:nvSpPr>
        <p:spPr>
          <a:xfrm>
            <a:off x="981456" y="6772275"/>
            <a:ext cx="1632508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kern="0" spc="900" dirty="0">
                <a:solidFill>
                  <a:srgbClr val="A1A1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 界 · CROSS THE BOUNDARY 越 界 · 跨越边界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19200" y="9163050"/>
            <a:ext cx="30689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CROSSV.DEV · APACHE 2.0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355812" y="9163050"/>
            <a:ext cx="27943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2026 2026 年 4 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4606</Words>
  <Application>Microsoft Macintosh PowerPoint</Application>
  <PresentationFormat>Custom</PresentationFormat>
  <Paragraphs>1081</Paragraphs>
  <Slides>46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等线</vt:lpstr>
      <vt:lpstr>Inter</vt:lpstr>
      <vt:lpstr>JetBrains Mono</vt:lpstr>
      <vt:lpstr>PingFang SC</vt:lpstr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穆 洋</cp:lastModifiedBy>
  <cp:revision>11</cp:revision>
  <dcterms:created xsi:type="dcterms:W3CDTF">2026-04-23T03:02:27Z</dcterms:created>
  <dcterms:modified xsi:type="dcterms:W3CDTF">2026-04-26T13:14:55Z</dcterms:modified>
</cp:coreProperties>
</file>